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acemesh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28600"/>
            <a:ext cx="4572000" cy="533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50292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76656" y="612648"/>
            <a:ext cx="76078" cy="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" y="612648"/>
            <a:ext cx="0" cy="760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38321" y="612648"/>
            <a:ext cx="76079" cy="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612648"/>
            <a:ext cx="0" cy="76078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" y="850392"/>
            <a:ext cx="76078" cy="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76656" y="774313"/>
            <a:ext cx="0" cy="760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38321" y="850392"/>
            <a:ext cx="76079" cy="0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14400" y="774313"/>
            <a:ext cx="0" cy="76079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2668" y="70866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475488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50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603504"/>
            <a:ext cx="260604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85216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 lang="uz-Latn-UZ" spc="220">
                <a:solidFill>
                  <a:srgbClr val="7CC7FF"/>
                </a:solidFill>
                <a:latin typeface="Space Grotesk Medium"/>
                <a:cs typeface="Space Grotesk Medium"/>
              </a:rPr>
              <a:t>FACIAL DATA · 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7373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 lang="uz-Latn-UZ" spc="240">
                <a:solidFill>
                  <a:srgbClr val="598DFF"/>
                </a:solidFill>
                <a:latin typeface="Space Grotesk Medium"/>
                <a:cs typeface="Space Grotesk Medium"/>
              </a:rPr>
              <a:t>TOSHKENT DAVLAT YURIDIK UNIVERSITETI  ·  FUQAROLIK HUQUQI SHO‘BASI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7223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Tasvirga bo‘lgan huquqni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2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fuqarolik-huquqiy tartibga solish</a:t>
            </a:r>
          </a:p>
          <a:p>
            <a:pPr algn="l">
              <a:lnSpc>
                <a:spcPct val="106000"/>
              </a:lnSpc>
            </a:pPr>
            <a:r>
              <a:rPr sz="32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va </a:t>
            </a:r>
            <a:r>
              <a:rPr sz="3200" b="0" i="0" lang="uz-Latn-UZ">
                <a:solidFill>
                  <a:srgbClr val="598DFF"/>
                </a:solidFill>
                <a:latin typeface="Montserrat ExtraBold"/>
                <a:cs typeface="Montserrat ExtraBold"/>
              </a:rPr>
              <a:t>himoya qilish</a:t>
            </a:r>
            <a:r>
              <a:rPr sz="32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 masalalari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" y="4480560"/>
            <a:ext cx="2157984" cy="0"/>
          </a:xfrm>
          <a:prstGeom prst="line">
            <a:avLst/>
          </a:prstGeom>
          <a:ln w="3048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216" y="468172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 lang="uz-Latn-UZ">
                <a:solidFill>
                  <a:srgbClr val="BCD3FF"/>
                </a:solidFill>
                <a:latin typeface="Inter SemiBold"/>
                <a:cs typeface="Inter SemiBold"/>
              </a:rPr>
              <a:t>Bitiruv malakaviy ishi himoyasi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248656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 lang="uz-Latn-UZ" spc="200">
                <a:solidFill>
                  <a:srgbClr val="7488B4"/>
                </a:solidFill>
                <a:latin typeface="Space Grotesk Medium"/>
                <a:cs typeface="Space Grotesk Medium"/>
              </a:rPr>
              <a:t>MUALLIF   </a:t>
            </a:r>
            <a:r>
              <a:rPr sz="13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Jumabekov Samandar Bahromjon o‘g‘li</a:t>
            </a:r>
          </a:p>
          <a:p>
            <a:pPr algn="l"/>
            <a:r>
              <a:rPr sz="1050" b="0" i="0" lang="uz-Latn-UZ" spc="200">
                <a:solidFill>
                  <a:srgbClr val="7488B4"/>
                </a:solidFill>
                <a:latin typeface="Space Grotesk Medium"/>
                <a:cs typeface="Space Grotesk Medium"/>
              </a:rPr>
              <a:t>RAHBAR   </a:t>
            </a:r>
            <a:r>
              <a:rPr sz="13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yuridik fanlar bo‘yicha PhD  B. U. Koryog‘diyev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943600"/>
            <a:ext cx="1166774" cy="365760"/>
          </a:xfrm>
          <a:prstGeom prst="roundRect">
            <a:avLst>
              <a:gd name="adj" fmla="val 50000"/>
            </a:avLst>
          </a:prstGeom>
          <a:solidFill>
            <a:srgbClr val="162240">
              <a:alpha val="6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6089904"/>
            <a:ext cx="82296" cy="82296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925312"/>
            <a:ext cx="116677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 lang="uz-Latn-UZ">
                <a:solidFill>
                  <a:srgbClr val="FFFFFF"/>
                </a:solidFill>
                <a:latin typeface="Inter Medium"/>
                <a:cs typeface="Inter Medium"/>
              </a:rPr>
              <a:t>Ilmiy natija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4870" y="5943600"/>
            <a:ext cx="1394460" cy="365760"/>
          </a:xfrm>
          <a:prstGeom prst="roundRect">
            <a:avLst>
              <a:gd name="adj" fmla="val 50000"/>
            </a:avLst>
          </a:prstGeom>
          <a:solidFill>
            <a:srgbClr val="162240">
              <a:alpha val="6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81174" y="6089904"/>
            <a:ext cx="82296" cy="82296"/>
          </a:xfrm>
          <a:prstGeom prst="ellipse">
            <a:avLst/>
          </a:prstGeom>
          <a:solidFill>
            <a:srgbClr val="7C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5766" y="5925312"/>
            <a:ext cx="13944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 lang="uz-Latn-UZ">
                <a:solidFill>
                  <a:srgbClr val="FFFFFF"/>
                </a:solidFill>
                <a:latin typeface="Inter Medium"/>
                <a:cs typeface="Inter Medium"/>
              </a:rPr>
              <a:t>Normativ natija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2210" y="5943600"/>
            <a:ext cx="2532888" cy="365760"/>
          </a:xfrm>
          <a:prstGeom prst="roundRect">
            <a:avLst>
              <a:gd name="adj" fmla="val 50000"/>
            </a:avLst>
          </a:prstGeom>
          <a:solidFill>
            <a:srgbClr val="162240">
              <a:alpha val="6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58514" y="608990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3106" y="5925312"/>
            <a:ext cx="25328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 lang="uz-Latn-UZ">
                <a:solidFill>
                  <a:srgbClr val="FFFFFF"/>
                </a:solidFill>
                <a:latin typeface="Inter Medium"/>
                <a:cs typeface="Inter Medium"/>
              </a:rPr>
              <a:t>Amaliy natija — ImageRights.uz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lang="uz-Latn-UZ" spc="150">
                <a:solidFill>
                  <a:srgbClr val="7CC7FF"/>
                </a:solidFill>
                <a:latin typeface="Space Grotesk"/>
                <a:cs typeface="Space Grotesk"/>
              </a:rPr>
              <a:t>IMAGE RIGHTS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8646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lang="uz-Latn-UZ" spc="150">
                <a:solidFill>
                  <a:srgbClr val="7CC7FF"/>
                </a:solidFill>
                <a:latin typeface="Space Grotesk"/>
                <a:cs typeface="Space Grotesk"/>
              </a:rPr>
              <a:t>ID · 0xA7F2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206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lang="uz-Latn-UZ" spc="150">
                <a:solidFill>
                  <a:srgbClr val="7CC7FF"/>
                </a:solidFill>
                <a:latin typeface="Space Grotesk"/>
                <a:cs typeface="Space Grotesk"/>
              </a:rPr>
              <a:t>MATCH 0.98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01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598DFF"/>
                </a:solidFill>
                <a:latin typeface="Space Grotesk Medium"/>
                <a:cs typeface="Space Grotesk Medium"/>
              </a:rPr>
              <a:t>MARKAZIY MUAMMO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O‘zbekiston qonunchiligi fuqaroga o‘z tasviri ustidan </a:t>
            </a:r>
            <a:r>
              <a:rPr sz="2300" b="0" i="0" lang="uz-Latn-UZ">
                <a:solidFill>
                  <a:srgbClr val="598DFF"/>
                </a:solidFill>
                <a:latin typeface="Montserrat ExtraBold"/>
                <a:cs typeface="Montserrat ExtraBold"/>
              </a:rPr>
              <a:t>samarali nazorat</a:t>
            </a:r>
            <a:r>
              <a:rPr sz="23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 o‘rnatish imkonini beradimi?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310128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FK 99-modda tasvirga bo‘lgan huquqni tan oladi — biroq amaliyotda to‘rt tugun uni himoyasiz qoldiradi:</a:t>
            </a:r>
          </a:p>
        </p:txBody>
      </p:sp>
      <p:pic>
        <p:nvPicPr>
          <p:cNvPr id="7" name="Picture 6" descr="facemesh_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0520"/>
            <a:ext cx="1965960" cy="22936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32120" y="1051560"/>
            <a:ext cx="2999232" cy="2395728"/>
          </a:xfrm>
          <a:prstGeom prst="roundRect">
            <a:avLst>
              <a:gd name="adj" fmla="val 6106"/>
            </a:avLst>
          </a:prstGeom>
          <a:solidFill>
            <a:srgbClr val="162240">
              <a:alpha val="88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88152" y="130759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883849" y="1403289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83849" y="1403289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123773" y="1403289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59382" y="1403289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83849" y="1778822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83849" y="1643213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123773" y="1778822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59382" y="1643213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35105" y="1554545"/>
            <a:ext cx="73020" cy="7302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07592"/>
            <a:ext cx="19019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075688"/>
            <a:ext cx="2450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Huquqiy ta’rif yo‘q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532888"/>
            <a:ext cx="2468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lang="uz-Latn-UZ">
                <a:solidFill>
                  <a:srgbClr val="9DB0D8"/>
                </a:solidFill>
                <a:latin typeface="Inter"/>
                <a:cs typeface="Inter"/>
              </a:rPr>
              <a:t>Tasvirning maxsus qonuniy ta’rifi FKda mavjud emas.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1051560"/>
            <a:ext cx="2999232" cy="2395728"/>
          </a:xfrm>
          <a:prstGeom prst="roundRect">
            <a:avLst>
              <a:gd name="adj" fmla="val 6106"/>
            </a:avLst>
          </a:prstGeom>
          <a:solidFill>
            <a:srgbClr val="162240">
              <a:alpha val="88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130759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3545" y="1392857"/>
            <a:ext cx="396396" cy="396396"/>
          </a:xfrm>
          <a:prstGeom prst="ellipse">
            <a:avLst/>
          </a:prstGeom>
          <a:noFill/>
          <a:ln w="24130">
            <a:solidFill>
              <a:srgbClr val="59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293076" y="1596271"/>
            <a:ext cx="73020" cy="73021"/>
          </a:xfrm>
          <a:prstGeom prst="line">
            <a:avLst/>
          </a:prstGeom>
          <a:ln w="2793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366096" y="1518035"/>
            <a:ext cx="119962" cy="151257"/>
          </a:xfrm>
          <a:prstGeom prst="line">
            <a:avLst/>
          </a:prstGeom>
          <a:ln w="2793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802368" y="1307592"/>
            <a:ext cx="19019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075688"/>
            <a:ext cx="2450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Rozilik chegarasi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532888"/>
            <a:ext cx="2468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lang="uz-Latn-UZ">
                <a:solidFill>
                  <a:srgbClr val="9DB0D8"/>
                </a:solidFill>
                <a:latin typeface="Inter"/>
                <a:cs typeface="Inter"/>
              </a:rPr>
              <a:t>Rozilik shakllari va uning amal qilish doirasi belgilanmagan.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721608"/>
            <a:ext cx="2999232" cy="2395728"/>
          </a:xfrm>
          <a:prstGeom prst="roundRect">
            <a:avLst>
              <a:gd name="adj" fmla="val 6106"/>
            </a:avLst>
          </a:prstGeom>
          <a:solidFill>
            <a:srgbClr val="162240">
              <a:alpha val="88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88152" y="3977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071616" y="4083768"/>
            <a:ext cx="0" cy="354671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94280" y="4261104"/>
            <a:ext cx="354671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56869" y="4146357"/>
            <a:ext cx="229493" cy="229493"/>
          </a:xfrm>
          <a:prstGeom prst="line">
            <a:avLst/>
          </a:prstGeom>
          <a:ln w="1689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956869" y="4146357"/>
            <a:ext cx="229493" cy="229493"/>
          </a:xfrm>
          <a:prstGeom prst="line">
            <a:avLst/>
          </a:prstGeom>
          <a:ln w="1689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92240" y="3977640"/>
            <a:ext cx="19019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745736"/>
            <a:ext cx="2450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AI va deepfake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5202936"/>
            <a:ext cx="2468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lang="uz-Latn-UZ">
                <a:solidFill>
                  <a:srgbClr val="9DB0D8"/>
                </a:solidFill>
                <a:latin typeface="Inter"/>
                <a:cs typeface="Inter"/>
              </a:rPr>
              <a:t>Sun’iy intellekt keltirgan yangi, oldin bo‘lmagan xavflar.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42248" y="3721608"/>
            <a:ext cx="2999232" cy="2395728"/>
          </a:xfrm>
          <a:prstGeom prst="roundRect">
            <a:avLst>
              <a:gd name="adj" fmla="val 6106"/>
            </a:avLst>
          </a:prstGeom>
          <a:solidFill>
            <a:srgbClr val="162240">
              <a:alpha val="88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98280" y="39776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381744" y="4083768"/>
            <a:ext cx="187766" cy="333808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193977" y="4417576"/>
            <a:ext cx="375533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193977" y="4083768"/>
            <a:ext cx="187767" cy="333808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381744" y="4208946"/>
            <a:ext cx="0" cy="104315"/>
          </a:xfrm>
          <a:prstGeom prst="line">
            <a:avLst/>
          </a:prstGeom>
          <a:ln w="2920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371312" y="4344555"/>
            <a:ext cx="26078" cy="26078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02368" y="3977640"/>
            <a:ext cx="19019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568" y="4745736"/>
            <a:ext cx="2450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Tezkor himoya yo‘q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6568" y="5202936"/>
            <a:ext cx="2468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 lang="uz-Latn-UZ">
                <a:solidFill>
                  <a:srgbClr val="9DB0D8"/>
                </a:solidFill>
                <a:latin typeface="Inter"/>
                <a:cs typeface="Inter"/>
              </a:rPr>
              <a:t>Internetdagi huquqbuzarlikda shoshilinch chora yetishmaydi.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02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598DFF"/>
                </a:solidFill>
                <a:latin typeface="Space Grotesk Medium"/>
                <a:cs typeface="Space Grotesk Medium"/>
              </a:rPr>
              <a:t>ASOSIY HUQUQIY BO‘SHLIQ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Huquq bor — mexanizm yo‘q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011680"/>
            <a:ext cx="3977639" cy="2788920"/>
          </a:xfrm>
          <a:prstGeom prst="roundRect">
            <a:avLst>
              <a:gd name="adj" fmla="val 5901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322576"/>
            <a:ext cx="17373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 lang="uz-Latn-UZ" spc="200">
                <a:solidFill>
                  <a:srgbClr val="598DFF"/>
                </a:solidFill>
                <a:latin typeface="Space Grotesk Medium"/>
                <a:cs typeface="Space Grotesk Medium"/>
              </a:rPr>
              <a:t>FK 99-MODDA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7" y="226771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1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15433" y="2352977"/>
            <a:ext cx="396396" cy="396396"/>
          </a:xfrm>
          <a:prstGeom prst="ellipse">
            <a:avLst/>
          </a:prstGeom>
          <a:noFill/>
          <a:ln w="241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824964" y="2556391"/>
            <a:ext cx="73020" cy="73021"/>
          </a:xfrm>
          <a:prstGeom prst="line">
            <a:avLst/>
          </a:prstGeom>
          <a:ln w="27939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97984" y="2478155"/>
            <a:ext cx="119962" cy="151257"/>
          </a:xfrm>
          <a:prstGeom prst="line">
            <a:avLst/>
          </a:prstGeom>
          <a:ln w="27939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3063240"/>
            <a:ext cx="34289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Huquq </a:t>
            </a:r>
            <a:r>
              <a:rPr sz="2300" b="0" i="0" lang="uz-Latn-UZ">
                <a:solidFill>
                  <a:srgbClr val="34D399"/>
                </a:solidFill>
                <a:latin typeface="Montserrat ExtraBold"/>
                <a:cs typeface="Montserrat ExtraBold"/>
              </a:rPr>
              <a:t>tan olingan</a:t>
            </a:r>
          </a:p>
          <a:p>
            <a:pPr algn="l">
              <a:lnSpc>
                <a:spcPct val="130000"/>
              </a:lnSpc>
            </a:pPr>
            <a:r>
              <a:rPr sz="13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Tasvirga bo‘lgan huquq shaxsiy nomulkiy huquqlar qatorida sanab o‘tilgan.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14223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1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23944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 lang="uz-Latn-UZ" spc="150">
                <a:solidFill>
                  <a:srgbClr val="34D399"/>
                </a:solidFill>
                <a:latin typeface="Space Grotesk Medium"/>
                <a:cs typeface="Space Grotesk Medium"/>
              </a:rPr>
              <a:t>NOMODDIY NE’MAT SIFATIDA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 i="0" lang="uz-Latn-UZ">
                <a:solidFill>
                  <a:srgbClr val="FFFFFF"/>
                </a:solidFill>
                <a:latin typeface="Montserrat Black"/>
                <a:cs typeface="Montserrat Black"/>
              </a:rPr>
              <a:t>LEKIN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5874" y="3547872"/>
            <a:ext cx="217627" cy="155448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395874" y="3703320"/>
            <a:ext cx="217627" cy="155448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2011680"/>
            <a:ext cx="5166360" cy="2788920"/>
          </a:xfrm>
          <a:prstGeom prst="roundRect">
            <a:avLst>
              <a:gd name="adj" fmla="val 5901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E5484D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57416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E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040879" y="2392128"/>
            <a:ext cx="187767" cy="333808"/>
          </a:xfrm>
          <a:prstGeom prst="line">
            <a:avLst/>
          </a:prstGeom>
          <a:ln w="2413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853113" y="2725936"/>
            <a:ext cx="375533" cy="0"/>
          </a:xfrm>
          <a:prstGeom prst="line">
            <a:avLst/>
          </a:prstGeom>
          <a:ln w="2413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53113" y="2392128"/>
            <a:ext cx="187766" cy="333808"/>
          </a:xfrm>
          <a:prstGeom prst="line">
            <a:avLst/>
          </a:prstGeom>
          <a:ln w="2413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79" y="2517306"/>
            <a:ext cx="0" cy="104315"/>
          </a:xfrm>
          <a:prstGeom prst="line">
            <a:avLst/>
          </a:prstGeom>
          <a:ln w="29209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030448" y="2652915"/>
            <a:ext cx="26078" cy="26078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2286000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Amalga oshirish mexanizmi yetarli emas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57416" y="3108960"/>
            <a:ext cx="2162556" cy="420624"/>
          </a:xfrm>
          <a:prstGeom prst="roundRect">
            <a:avLst>
              <a:gd name="adj" fmla="val 21739"/>
            </a:avLst>
          </a:prstGeom>
          <a:solidFill>
            <a:srgbClr val="241218"/>
          </a:solidFill>
          <a:ln w="12700">
            <a:solidFill>
              <a:srgbClr val="E5484D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40296" y="3255264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40296" y="3255264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14616" y="3108960"/>
            <a:ext cx="16139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lang="uz-Latn-UZ">
                <a:solidFill>
                  <a:srgbClr val="F0C8CC"/>
                </a:solidFill>
                <a:latin typeface="Inter SemiBold"/>
                <a:cs typeface="Inter SemiBold"/>
              </a:rPr>
              <a:t>Tasvir ta’rifi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39428" y="3108960"/>
            <a:ext cx="2162556" cy="420624"/>
          </a:xfrm>
          <a:prstGeom prst="roundRect">
            <a:avLst>
              <a:gd name="adj" fmla="val 21739"/>
            </a:avLst>
          </a:prstGeom>
          <a:solidFill>
            <a:srgbClr val="241218"/>
          </a:solidFill>
          <a:ln w="12700">
            <a:solidFill>
              <a:srgbClr val="E5484D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322308" y="3255264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322308" y="3255264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596628" y="3108960"/>
            <a:ext cx="16139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lang="uz-Latn-UZ">
                <a:solidFill>
                  <a:srgbClr val="F0C8CC"/>
                </a:solidFill>
                <a:latin typeface="Inter SemiBold"/>
                <a:cs typeface="Inter SemiBold"/>
              </a:rPr>
              <a:t>Rozilik tartibi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57416" y="3621024"/>
            <a:ext cx="2162556" cy="420624"/>
          </a:xfrm>
          <a:prstGeom prst="roundRect">
            <a:avLst>
              <a:gd name="adj" fmla="val 21739"/>
            </a:avLst>
          </a:prstGeom>
          <a:solidFill>
            <a:srgbClr val="241218"/>
          </a:solidFill>
          <a:ln w="12700">
            <a:solidFill>
              <a:srgbClr val="E5484D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940296" y="3767328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940296" y="3767328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14616" y="3621024"/>
            <a:ext cx="16139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lang="uz-Latn-UZ">
                <a:solidFill>
                  <a:srgbClr val="F0C8CC"/>
                </a:solidFill>
                <a:latin typeface="Inter SemiBold"/>
                <a:cs typeface="Inter SemiBold"/>
              </a:rPr>
              <a:t>Istisno holatlar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9428" y="3621024"/>
            <a:ext cx="2162556" cy="420624"/>
          </a:xfrm>
          <a:prstGeom prst="roundRect">
            <a:avLst>
              <a:gd name="adj" fmla="val 21739"/>
            </a:avLst>
          </a:prstGeom>
          <a:solidFill>
            <a:srgbClr val="241218"/>
          </a:solidFill>
          <a:ln w="12700">
            <a:solidFill>
              <a:srgbClr val="E5484D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22308" y="3767328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322308" y="3767328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96628" y="3621024"/>
            <a:ext cx="16139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lang="uz-Latn-UZ">
                <a:solidFill>
                  <a:srgbClr val="F0C8CC"/>
                </a:solidFill>
                <a:latin typeface="Inter SemiBold"/>
                <a:cs typeface="Inter SemiBold"/>
              </a:rPr>
              <a:t>Tijorat maqsadida foydalanish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57416" y="4133088"/>
            <a:ext cx="4544568" cy="420624"/>
          </a:xfrm>
          <a:prstGeom prst="roundRect">
            <a:avLst>
              <a:gd name="adj" fmla="val 21739"/>
            </a:avLst>
          </a:prstGeom>
          <a:solidFill>
            <a:srgbClr val="241218"/>
          </a:solidFill>
          <a:ln w="12700">
            <a:solidFill>
              <a:srgbClr val="E5484D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940296" y="4279392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940296" y="4279392"/>
            <a:ext cx="128016" cy="128016"/>
          </a:xfrm>
          <a:prstGeom prst="line">
            <a:avLst/>
          </a:prstGeom>
          <a:ln w="25400">
            <a:solidFill>
              <a:srgbClr val="FF6B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14616" y="4133088"/>
            <a:ext cx="39959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 lang="uz-Latn-UZ">
                <a:solidFill>
                  <a:srgbClr val="F0C8CC"/>
                </a:solidFill>
                <a:latin typeface="Inter SemiBold"/>
                <a:cs typeface="Inter SemiBold"/>
              </a:rPr>
              <a:t>Internetdagi himoya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5216" y="5074920"/>
            <a:ext cx="11027664" cy="841248"/>
          </a:xfrm>
          <a:prstGeom prst="roundRect">
            <a:avLst>
              <a:gd name="adj" fmla="val 17391"/>
            </a:avLst>
          </a:prstGeom>
          <a:solidFill>
            <a:srgbClr val="162240">
              <a:alpha val="7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074920"/>
            <a:ext cx="10378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 lang="uz-Latn-UZ">
                <a:solidFill>
                  <a:srgbClr val="598DFF"/>
                </a:solidFill>
                <a:latin typeface="Montserrat ExtraBold"/>
                <a:cs typeface="Montserrat ExtraBold"/>
              </a:rPr>
              <a:t>“Qonunchilik lakunasi”</a:t>
            </a:r>
            <a:r>
              <a:rPr sz="1350" b="0" i="0" lang="uz-Latn-UZ">
                <a:solidFill>
                  <a:srgbClr val="FFFFFF"/>
                </a:solidFill>
                <a:latin typeface="Inter Medium"/>
                <a:cs typeface="Inter Medium"/>
              </a:rPr>
              <a:t>  —  tasvirning mazmuni, chegaralari, rozilik tartibi va istisnolarini tartibga soluvchi alohida norma mavjud emas.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03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366FF"/>
                </a:solidFill>
                <a:latin typeface="Space Grotesk Medium"/>
                <a:cs typeface="Space Grotesk Medium"/>
              </a:rPr>
              <a:t>HUQUQIY TABIAT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5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Tasvir — shaxsni individuallashtiruvchi </a:t>
            </a:r>
            <a:r>
              <a:rPr sz="2500" b="0" i="0" lang="uz-Latn-UZ">
                <a:solidFill>
                  <a:srgbClr val="3366FF"/>
                </a:solidFill>
                <a:latin typeface="Montserrat ExtraBold"/>
                <a:cs typeface="Montserrat ExtraBold"/>
              </a:rPr>
              <a:t>nomoddiy ne’mat</a:t>
            </a:r>
          </a:p>
          <a:p>
            <a:pPr algn="l">
              <a:lnSpc>
                <a:spcPct val="110000"/>
              </a:lnSpc>
            </a:pPr>
            <a:r>
              <a:rPr sz="1600" b="0" i="0" lang="uz-Latn-UZ">
                <a:solidFill>
                  <a:srgbClr val="5B7099"/>
                </a:solidFill>
                <a:latin typeface="Inter SemiBold"/>
                <a:cs typeface="Inter SemiBold"/>
              </a:rPr>
              <a:t>Tasvirga bo‘lgan huquq — shaxsiy nomulkiy huquq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697480"/>
            <a:ext cx="32461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008376"/>
            <a:ext cx="2880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 lang="uz-Latn-UZ">
                <a:solidFill>
                  <a:srgbClr val="0F172A"/>
                </a:solidFill>
                <a:latin typeface="Montserrat"/>
                <a:cs typeface="Montserrat"/>
              </a:rPr>
              <a:t>SHAXSIY MANFAAT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776472"/>
            <a:ext cx="2880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lang="uz-Latn-UZ">
                <a:solidFill>
                  <a:srgbClr val="5B7099"/>
                </a:solidFill>
                <a:latin typeface="Inter"/>
                <a:cs typeface="Inter"/>
              </a:rPr>
              <a:t>Sha’n · qadr-qimmat · daxlsizlik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697480"/>
            <a:ext cx="3246120" cy="173736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20320">
            <a:solidFill>
              <a:srgbClr val="3366FF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08376"/>
            <a:ext cx="2880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 lang="uz-Latn-UZ">
                <a:solidFill>
                  <a:srgbClr val="FFFFFF"/>
                </a:solidFill>
                <a:latin typeface="Montserrat"/>
                <a:cs typeface="Montserrat"/>
              </a:rPr>
              <a:t>TASVIR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76472"/>
            <a:ext cx="2880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lang="uz-Latn-UZ">
                <a:solidFill>
                  <a:srgbClr val="BCD3FF"/>
                </a:solidFill>
                <a:latin typeface="Inter"/>
                <a:cs typeface="Inter"/>
              </a:rPr>
              <a:t>identifikatsiyalovchi nomoddiy ne’mat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697480"/>
            <a:ext cx="32461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008376"/>
            <a:ext cx="2880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 lang="uz-Latn-UZ">
                <a:solidFill>
                  <a:srgbClr val="0F172A"/>
                </a:solidFill>
                <a:latin typeface="Montserrat"/>
                <a:cs typeface="Montserrat"/>
              </a:rPr>
              <a:t>IQTISODIY QIYMAT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776472"/>
            <a:ext cx="2880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 lang="uz-Latn-UZ">
                <a:solidFill>
                  <a:srgbClr val="5B7099"/>
                </a:solidFill>
                <a:latin typeface="Inter"/>
                <a:cs typeface="Inter"/>
              </a:rPr>
              <a:t>litsenziya · reklama · homiylik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4507" y="3429000"/>
            <a:ext cx="192025" cy="137160"/>
          </a:xfrm>
          <a:prstGeom prst="line">
            <a:avLst/>
          </a:prstGeom>
          <a:ln w="27940">
            <a:solidFill>
              <a:srgbClr val="3366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064507" y="3566160"/>
            <a:ext cx="192025" cy="137160"/>
          </a:xfrm>
          <a:prstGeom prst="line">
            <a:avLst/>
          </a:prstGeom>
          <a:ln w="27940">
            <a:solidFill>
              <a:srgbClr val="3366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0708" y="3429000"/>
            <a:ext cx="192024" cy="137160"/>
          </a:xfrm>
          <a:prstGeom prst="line">
            <a:avLst/>
          </a:prstGeom>
          <a:ln w="27940">
            <a:solidFill>
              <a:srgbClr val="3366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950708" y="3566160"/>
            <a:ext cx="192024" cy="137160"/>
          </a:xfrm>
          <a:prstGeom prst="line">
            <a:avLst/>
          </a:prstGeom>
          <a:ln w="27940">
            <a:solidFill>
              <a:srgbClr val="3366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79576" y="2304288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2286000"/>
            <a:ext cx="2057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 lang="uz-Latn-UZ" spc="60">
                <a:solidFill>
                  <a:srgbClr val="3366FF"/>
                </a:solidFill>
                <a:latin typeface="Space Grotesk Medium"/>
                <a:cs typeface="Space Grotesk Medium"/>
              </a:rPr>
              <a:t>extra-patrimonial · axloqiy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304288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057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 lang="uz-Latn-UZ" spc="60">
                <a:solidFill>
                  <a:srgbClr val="3366FF"/>
                </a:solidFill>
                <a:latin typeface="Space Grotesk Medium"/>
                <a:cs typeface="Space Grotesk Medium"/>
              </a:rPr>
              <a:t>patrimonial · mulkiy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0428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286000"/>
            <a:ext cx="2148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 lang="uz-Latn-UZ" spc="60">
                <a:solidFill>
                  <a:srgbClr val="BCD3FF"/>
                </a:solidFill>
                <a:latin typeface="Space Grotesk Medium"/>
                <a:cs typeface="Space Grotesk Medium"/>
              </a:rPr>
              <a:t>droit à l’image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828032"/>
            <a:ext cx="11027664" cy="10972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10235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2254" y="5375384"/>
            <a:ext cx="271218" cy="219060"/>
          </a:xfrm>
          <a:prstGeom prst="roundRect">
            <a:avLst>
              <a:gd name="adj" fmla="val 11904"/>
            </a:avLst>
          </a:prstGeom>
          <a:noFill/>
          <a:ln w="24130">
            <a:solidFill>
              <a:srgbClr val="59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4412" y="5218912"/>
            <a:ext cx="166903" cy="187766"/>
          </a:xfrm>
          <a:prstGeom prst="ellipse">
            <a:avLst/>
          </a:prstGeom>
          <a:noFill/>
          <a:ln w="24130">
            <a:solidFill>
              <a:srgbClr val="59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2254" y="5375384"/>
            <a:ext cx="271218" cy="156472"/>
          </a:xfrm>
          <a:prstGeom prst="roundRect">
            <a:avLst>
              <a:gd name="adj" fmla="val 16666"/>
            </a:avLst>
          </a:prstGeom>
          <a:noFill/>
          <a:ln w="24130">
            <a:solidFill>
              <a:srgbClr val="59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828032"/>
            <a:ext cx="9601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Huquqning o‘zi begonalashtirilmaydi</a:t>
            </a:r>
            <a:r>
              <a:rPr sz="1350" b="0" i="0" lang="uz-Latn-UZ">
                <a:solidFill>
                  <a:srgbClr val="BCD3FF"/>
                </a:solidFill>
                <a:latin typeface="Inter Medium"/>
                <a:cs typeface="Inter Medium"/>
              </a:rPr>
              <a:t>  —  ammo tasvirdan foydalanish vakolati shartnoma asosida berilishi mumkin (dualistik model).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E1E7F3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0F172A"/>
                </a:solidFill>
                <a:latin typeface="Space Grotesk"/>
                <a:cs typeface="Space Grotesk"/>
              </a:rPr>
              <a:t>04</a:t>
            </a:r>
            <a:r>
              <a:rPr sz="1100" b="0" i="0" lang="uz-Latn-UZ">
                <a:solidFill>
                  <a:srgbClr val="5B7099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366FF"/>
                </a:solidFill>
                <a:latin typeface="Space Grotesk Medium"/>
                <a:cs typeface="Space Grotesk Medium"/>
              </a:rPr>
              <a:t>QIYOSIY-HUQUQIY TAJRIBA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Xorijiy tajribadan </a:t>
            </a:r>
            <a:r>
              <a:rPr sz="2500" b="0" i="0" lang="uz-Latn-UZ">
                <a:solidFill>
                  <a:srgbClr val="3366FF"/>
                </a:solidFill>
                <a:latin typeface="Montserrat ExtraBold"/>
                <a:cs typeface="Montserrat ExtraBold"/>
              </a:rPr>
              <a:t>huquqiy saboqlar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920240"/>
            <a:ext cx="2103120" cy="27432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9202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31136"/>
            <a:ext cx="640080" cy="475488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640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lang="uz-Latn-UZ" spc="50">
                <a:solidFill>
                  <a:srgbClr val="FFFFFF"/>
                </a:solidFill>
                <a:latin typeface="Space Grotesk"/>
                <a:cs typeface="Space Grotesk"/>
              </a:rPr>
              <a:t>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212848"/>
            <a:ext cx="10972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lang="uz-Latn-UZ">
                <a:solidFill>
                  <a:srgbClr val="0F172A"/>
                </a:solidFill>
                <a:latin typeface="Montserrat"/>
                <a:cs typeface="Montserrat"/>
              </a:rPr>
              <a:t>Fransiya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889504"/>
            <a:ext cx="1627631" cy="0"/>
          </a:xfrm>
          <a:prstGeom prst="line">
            <a:avLst/>
          </a:prstGeom>
          <a:ln w="12700">
            <a:solidFill>
              <a:srgbClr val="E1E7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1248" y="3118103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017520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droit à l’image — mutlaq huquq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904488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803904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référé: bir necha soatda tezkor sud himoyasi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1920240"/>
            <a:ext cx="2103120" cy="27432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6352" y="19202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54096" y="2231136"/>
            <a:ext cx="640080" cy="475488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212848"/>
            <a:ext cx="640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lang="uz-Latn-UZ" spc="50">
                <a:solidFill>
                  <a:srgbClr val="FFFFFF"/>
                </a:solidFill>
                <a:latin typeface="Space Grotesk"/>
                <a:cs typeface="Space Grotesk"/>
              </a:rPr>
              <a:t>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212848"/>
            <a:ext cx="10972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lang="uz-Latn-UZ">
                <a:solidFill>
                  <a:srgbClr val="0F172A"/>
                </a:solidFill>
                <a:latin typeface="Montserrat"/>
                <a:cs typeface="Montserrat"/>
              </a:rPr>
              <a:t>Germaniya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54096" y="2889504"/>
            <a:ext cx="1627632" cy="0"/>
          </a:xfrm>
          <a:prstGeom prst="line">
            <a:avLst/>
          </a:prstGeom>
          <a:ln w="12700">
            <a:solidFill>
              <a:srgbClr val="E1E7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072384" y="3118103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3017520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KUG 22–23: rozilik — umumiy qoida</a:t>
            </a:r>
          </a:p>
        </p:txBody>
      </p:sp>
      <p:sp>
        <p:nvSpPr>
          <p:cNvPr id="24" name="Oval 23"/>
          <p:cNvSpPr/>
          <p:nvPr/>
        </p:nvSpPr>
        <p:spPr>
          <a:xfrm>
            <a:off x="3072384" y="3904488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3803904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aniq belgilangan istisnolar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47488" y="1920240"/>
            <a:ext cx="2103120" cy="27432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47488" y="19202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85231" y="2231136"/>
            <a:ext cx="640080" cy="475488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1" y="2212848"/>
            <a:ext cx="640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lang="uz-Latn-UZ" spc="50">
                <a:solidFill>
                  <a:srgbClr val="FFFFFF"/>
                </a:solidFill>
                <a:latin typeface="Space Grotesk"/>
                <a:cs typeface="Space Grotesk"/>
              </a:rPr>
              <a:t>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5" y="2212848"/>
            <a:ext cx="10972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lang="uz-Latn-UZ">
                <a:solidFill>
                  <a:srgbClr val="0F172A"/>
                </a:solidFill>
                <a:latin typeface="Montserrat"/>
                <a:cs typeface="Montserrat"/>
              </a:rPr>
              <a:t>Polsha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85231" y="2889504"/>
            <a:ext cx="1627633" cy="0"/>
          </a:xfrm>
          <a:prstGeom prst="line">
            <a:avLst/>
          </a:prstGeom>
          <a:ln w="12700">
            <a:solidFill>
              <a:srgbClr val="E1E7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303520" y="3118103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4688" y="3017520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FK 23-modda: shaxsiy nomulkiy manfaat</a:t>
            </a:r>
          </a:p>
        </p:txBody>
      </p:sp>
      <p:sp>
        <p:nvSpPr>
          <p:cNvPr id="34" name="Oval 33"/>
          <p:cNvSpPr/>
          <p:nvPr/>
        </p:nvSpPr>
        <p:spPr>
          <a:xfrm>
            <a:off x="5303520" y="3904488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4688" y="3803904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ikki qonunda parallel himoya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8624" y="1920240"/>
            <a:ext cx="2103120" cy="27432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78624" y="19202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16368" y="2231136"/>
            <a:ext cx="640080" cy="475488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2212848"/>
            <a:ext cx="640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lang="uz-Latn-UZ" spc="50">
                <a:solidFill>
                  <a:srgbClr val="FFFFFF"/>
                </a:solidFill>
                <a:latin typeface="Space Grotesk"/>
                <a:cs typeface="Space Grotesk"/>
              </a:rPr>
              <a:t>RU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2212848"/>
            <a:ext cx="10972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lang="uz-Latn-UZ">
                <a:solidFill>
                  <a:srgbClr val="0F172A"/>
                </a:solidFill>
                <a:latin typeface="Montserrat"/>
                <a:cs typeface="Montserrat"/>
              </a:rPr>
              <a:t>Rossiya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16368" y="2889504"/>
            <a:ext cx="1627632" cy="0"/>
          </a:xfrm>
          <a:prstGeom prst="line">
            <a:avLst/>
          </a:prstGeom>
          <a:ln w="12700">
            <a:solidFill>
              <a:srgbClr val="E1E7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534656" y="3118103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35824" y="3017520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FK 152¹: maxsus tartibga solish</a:t>
            </a:r>
          </a:p>
        </p:txBody>
      </p:sp>
      <p:sp>
        <p:nvSpPr>
          <p:cNvPr id="44" name="Oval 43"/>
          <p:cNvSpPr/>
          <p:nvPr/>
        </p:nvSpPr>
        <p:spPr>
          <a:xfrm>
            <a:off x="7534656" y="3904488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35824" y="3803904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internetda olib tashlash talabi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1920240"/>
            <a:ext cx="2103120" cy="27432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509760" y="192024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47504" y="2231136"/>
            <a:ext cx="640080" cy="475488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7504" y="2212848"/>
            <a:ext cx="640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lang="uz-Latn-UZ" spc="50">
                <a:solidFill>
                  <a:srgbClr val="FFFFFF"/>
                </a:solidFill>
                <a:latin typeface="Space Grotesk"/>
                <a:cs typeface="Space Grotesk"/>
              </a:rPr>
              <a:t>EU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42448" y="2212848"/>
            <a:ext cx="10972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lang="uz-Latn-UZ">
                <a:solidFill>
                  <a:srgbClr val="0F172A"/>
                </a:solidFill>
                <a:latin typeface="Montserrat"/>
                <a:cs typeface="Montserrat"/>
              </a:rPr>
              <a:t>GDPR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47504" y="2889504"/>
            <a:ext cx="1627632" cy="0"/>
          </a:xfrm>
          <a:prstGeom prst="line">
            <a:avLst/>
          </a:prstGeom>
          <a:ln w="12700">
            <a:solidFill>
              <a:srgbClr val="E1E7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765792" y="3118103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3017520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tasvir — identifikatsiyalovchi ma’lumot</a:t>
            </a:r>
          </a:p>
        </p:txBody>
      </p:sp>
      <p:sp>
        <p:nvSpPr>
          <p:cNvPr id="54" name="Oval 53"/>
          <p:cNvSpPr/>
          <p:nvPr/>
        </p:nvSpPr>
        <p:spPr>
          <a:xfrm>
            <a:off x="9765792" y="3904488"/>
            <a:ext cx="91440" cy="9144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6960" y="3803904"/>
            <a:ext cx="1444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unutilish huquqi (17-modda)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5216" y="4956048"/>
            <a:ext cx="11027664" cy="969264"/>
          </a:xfrm>
          <a:prstGeom prst="roundRect">
            <a:avLst>
              <a:gd name="adj" fmla="val 15094"/>
            </a:avLst>
          </a:prstGeom>
          <a:solidFill>
            <a:srgbClr val="0F172A"/>
          </a:solidFill>
          <a:ln>
            <a:noFill/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5230368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212080"/>
            <a:ext cx="1965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 lang="uz-Latn-UZ" spc="120">
                <a:solidFill>
                  <a:srgbClr val="FFFFFF"/>
                </a:solidFill>
                <a:latin typeface="Space Grotesk Medium"/>
                <a:cs typeface="Space Grotesk Medium"/>
              </a:rPr>
              <a:t>O‘ZBEKISTON UCHUN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4956048"/>
            <a:ext cx="832104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 lang="uz-Latn-UZ">
                <a:solidFill>
                  <a:srgbClr val="BCD3FF"/>
                </a:solidFill>
                <a:latin typeface="Inter Medium"/>
                <a:cs typeface="Inter Medium"/>
              </a:rPr>
              <a:t>Kontinental model — tasvirni </a:t>
            </a:r>
            <a:r>
              <a:rPr sz="13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shaxsiy nomulkiy huquq</a:t>
            </a:r>
            <a:r>
              <a:rPr sz="1350" b="0" i="0" lang="uz-Latn-UZ">
                <a:solidFill>
                  <a:srgbClr val="BCD3FF"/>
                </a:solidFill>
                <a:latin typeface="Inter Medium"/>
                <a:cs typeface="Inter Medium"/>
              </a:rPr>
              <a:t> sifatida maxsus norma bilan mustahkamlash eng maqbul yondashuv.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E1E7F3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0F172A"/>
                </a:solidFill>
                <a:latin typeface="Space Grotesk"/>
                <a:cs typeface="Space Grotesk"/>
              </a:rPr>
              <a:t>05</a:t>
            </a:r>
            <a:r>
              <a:rPr sz="1100" b="0" i="0" lang="uz-Latn-UZ">
                <a:solidFill>
                  <a:srgbClr val="5B7099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FF6B81"/>
                </a:solidFill>
                <a:latin typeface="Space Grotesk Medium"/>
                <a:cs typeface="Space Grotesk Medium"/>
              </a:rPr>
              <a:t>YANGI RAQAMLI TAHDID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Muammo endi faqat ruxsatsiz</a:t>
            </a:r>
          </a:p>
          <a:p>
            <a:pPr algn="l">
              <a:lnSpc>
                <a:spcPct val="104000"/>
              </a:lnSpc>
            </a:pPr>
            <a:r>
              <a:rPr sz="2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surat tarqatish </a:t>
            </a:r>
            <a:r>
              <a:rPr sz="2500" b="0" i="0" lang="uz-Latn-UZ">
                <a:solidFill>
                  <a:srgbClr val="FF6B81"/>
                </a:solidFill>
                <a:latin typeface="Montserrat ExtraBold"/>
                <a:cs typeface="Montserrat ExtraBold"/>
              </a:rPr>
              <a:t>emas</a:t>
            </a:r>
          </a:p>
        </p:txBody>
      </p:sp>
      <p:pic>
        <p:nvPicPr>
          <p:cNvPr id="6" name="Picture 5" descr="facemesh_deepf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4846320" cy="4276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7830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lang="uz-Latn-UZ" spc="150">
                <a:solidFill>
                  <a:srgbClr val="598DFF"/>
                </a:solidFill>
                <a:latin typeface="Space Grotesk"/>
                <a:cs typeface="Space Grotesk"/>
              </a:rPr>
              <a:t>AUTHENTIC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783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lang="uz-Latn-UZ" spc="150">
                <a:solidFill>
                  <a:srgbClr val="FF6B81"/>
                </a:solidFill>
                <a:latin typeface="Space Grotesk"/>
                <a:cs typeface="Space Grotesk"/>
              </a:rPr>
              <a:t>MANIPULATED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06840" y="1737360"/>
            <a:ext cx="0" cy="411480"/>
          </a:xfrm>
          <a:prstGeom prst="line">
            <a:avLst/>
          </a:prstGeom>
          <a:ln w="11430">
            <a:solidFill>
              <a:srgbClr val="7488B4">
                <a:alpha val="55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5216" y="2331720"/>
            <a:ext cx="534009" cy="457200"/>
          </a:xfrm>
          <a:prstGeom prst="roundRect">
            <a:avLst>
              <a:gd name="adj" fmla="val 20000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2505456"/>
            <a:ext cx="109728" cy="109728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" y="2807208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4672" y="2898648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5216" y="2898648"/>
            <a:ext cx="1038758" cy="457200"/>
          </a:xfrm>
          <a:prstGeom prst="roundRect">
            <a:avLst>
              <a:gd name="adj" fmla="val 20000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" y="3072384"/>
            <a:ext cx="109728" cy="109728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986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DEEPFAKE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" y="3374136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04672" y="3465576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5216" y="3465576"/>
            <a:ext cx="1543507" cy="457200"/>
          </a:xfrm>
          <a:prstGeom prst="roundRect">
            <a:avLst>
              <a:gd name="adj" fmla="val 20000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639312"/>
            <a:ext cx="109728" cy="109728"/>
          </a:xfrm>
          <a:prstGeom prst="ellipse">
            <a:avLst/>
          </a:prstGeom>
          <a:solidFill>
            <a:srgbClr val="D988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6557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SOXTA KONTEKST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4672" y="3941064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04672" y="4032504"/>
            <a:ext cx="128016" cy="91440"/>
          </a:xfrm>
          <a:prstGeom prst="line">
            <a:avLst/>
          </a:prstGeom>
          <a:ln w="27940">
            <a:solidFill>
              <a:srgbClr val="7488B4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5216" y="4032504"/>
            <a:ext cx="2637129" cy="457200"/>
          </a:xfrm>
          <a:prstGeom prst="roundRect">
            <a:avLst>
              <a:gd name="adj" fmla="val 20000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" y="4206240"/>
            <a:ext cx="109728" cy="109728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0325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REPUTATSION VA MULKIY ZARAR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395728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 lang="uz-Latn-UZ">
                <a:solidFill>
                  <a:srgbClr val="FF6B81"/>
                </a:solidFill>
                <a:latin typeface="Space Grotesk"/>
                <a:cs typeface="Space Grotesk"/>
              </a:rPr>
              <a:t>96%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 lang="uz-Latn-UZ">
                <a:solidFill>
                  <a:srgbClr val="9DB0D8"/>
                </a:solidFill>
                <a:latin typeface="Inter"/>
                <a:cs typeface="Inter"/>
              </a:rPr>
              <a:t>deepfake video —
pornografik (Sensity AI)</a:t>
            </a:r>
          </a:p>
          <a:p>
            <a:pPr algn="l">
              <a:spcAft>
                <a:spcPts val="0"/>
              </a:spcAft>
            </a:pPr>
            <a:r>
              <a:rPr sz="2200" b="1" i="0" lang="uz-Latn-UZ">
                <a:solidFill>
                  <a:srgbClr val="D9880B"/>
                </a:solidFill>
                <a:latin typeface="Space Grotesk"/>
                <a:cs typeface="Space Grotesk"/>
              </a:rPr>
              <a:t>+550%</a:t>
            </a:r>
          </a:p>
          <a:p>
            <a:pPr algn="l">
              <a:lnSpc>
                <a:spcPct val="120000"/>
              </a:lnSpc>
            </a:pPr>
            <a:r>
              <a:rPr sz="1050" b="0" i="0" lang="uz-Latn-UZ">
                <a:solidFill>
                  <a:srgbClr val="9DB0D8"/>
                </a:solidFill>
                <a:latin typeface="Inter"/>
                <a:cs typeface="Inter"/>
              </a:rPr>
              <a:t>deepfake hajmi
2019–2024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4892040"/>
            <a:ext cx="3493008" cy="1051560"/>
          </a:xfrm>
          <a:prstGeom prst="roundRect">
            <a:avLst>
              <a:gd name="adj" fmla="val 12173"/>
            </a:avLst>
          </a:prstGeom>
          <a:solidFill>
            <a:srgbClr val="162240">
              <a:alpha val="92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514807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1517" y="5237595"/>
            <a:ext cx="243961" cy="351305"/>
          </a:xfrm>
          <a:prstGeom prst="roundRect">
            <a:avLst>
              <a:gd name="adj" fmla="val 10000"/>
            </a:avLst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95430" y="5442523"/>
            <a:ext cx="43913" cy="48792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39343" y="5364455"/>
            <a:ext cx="87826" cy="12686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99616" y="5074920"/>
            <a:ext cx="23957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 lang="uz-Latn-UZ">
                <a:solidFill>
                  <a:srgbClr val="FFFFFF"/>
                </a:solidFill>
                <a:latin typeface="Montserrat"/>
                <a:cs typeface="Montserrat"/>
              </a:rPr>
              <a:t>Kim javobgar?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544" y="4892040"/>
            <a:ext cx="3493008" cy="1051560"/>
          </a:xfrm>
          <a:prstGeom prst="roundRect">
            <a:avLst>
              <a:gd name="adj" fmla="val 12173"/>
            </a:avLst>
          </a:prstGeom>
          <a:solidFill>
            <a:srgbClr val="162240">
              <a:alpha val="92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90288" y="514807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79811" y="5237595"/>
            <a:ext cx="351305" cy="351305"/>
          </a:xfrm>
          <a:prstGeom prst="ellipse">
            <a:avLst/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87154" y="5237595"/>
            <a:ext cx="136618" cy="351305"/>
          </a:xfrm>
          <a:prstGeom prst="ellipse">
            <a:avLst/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79811" y="5413248"/>
            <a:ext cx="35130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66944" y="5074920"/>
            <a:ext cx="23957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 lang="uz-Latn-UZ">
                <a:solidFill>
                  <a:srgbClr val="FFFFFF"/>
                </a:solidFill>
                <a:latin typeface="Montserrat"/>
                <a:cs typeface="Montserrat"/>
              </a:rPr>
              <a:t>Platformaning majburiyati qanday?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2" y="4892040"/>
            <a:ext cx="3493008" cy="1051560"/>
          </a:xfrm>
          <a:prstGeom prst="roundRect">
            <a:avLst>
              <a:gd name="adj" fmla="val 12173"/>
            </a:avLst>
          </a:prstGeom>
          <a:solidFill>
            <a:srgbClr val="162240">
              <a:alpha val="92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57616" y="514807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622792" y="5247353"/>
            <a:ext cx="175652" cy="312272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447139" y="5559625"/>
            <a:ext cx="35130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47139" y="5247353"/>
            <a:ext cx="175653" cy="312272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22792" y="5364455"/>
            <a:ext cx="0" cy="97585"/>
          </a:xfrm>
          <a:prstGeom prst="line">
            <a:avLst/>
          </a:prstGeom>
          <a:ln w="29209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613033" y="5491315"/>
            <a:ext cx="24396" cy="24396"/>
          </a:xfrm>
          <a:prstGeom prst="ellipse">
            <a:avLst/>
          </a:prstGeom>
          <a:solidFill>
            <a:srgbClr val="7C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34272" y="5074920"/>
            <a:ext cx="23957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 lang="uz-Latn-UZ">
                <a:solidFill>
                  <a:srgbClr val="FFFFFF"/>
                </a:solidFill>
                <a:latin typeface="Montserrat"/>
                <a:cs typeface="Montserrat"/>
              </a:rPr>
              <a:t>Kontent qancha tez olib tashlanishi kerak?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06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366FF"/>
                </a:solidFill>
                <a:latin typeface="Space Grotesk Medium"/>
                <a:cs typeface="Space Grotesk Medium"/>
              </a:rPr>
              <a:t>MENING ASOSIY TAKLIFIM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3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Fuqarolik kodeksiga </a:t>
            </a:r>
            <a:r>
              <a:rPr sz="2300" b="0" i="0" lang="uz-Latn-UZ">
                <a:solidFill>
                  <a:srgbClr val="3366FF"/>
                </a:solidFill>
                <a:latin typeface="Montserrat ExtraBold"/>
                <a:cs typeface="Montserrat ExtraBold"/>
              </a:rPr>
              <a:t>maxsus norma</a:t>
            </a:r>
          </a:p>
          <a:p>
            <a:pPr algn="l">
              <a:lnSpc>
                <a:spcPct val="112000"/>
              </a:lnSpc>
            </a:pPr>
            <a:r>
              <a:rPr sz="1450" b="0" i="0" lang="uz-Latn-UZ">
                <a:solidFill>
                  <a:srgbClr val="5B7099"/>
                </a:solidFill>
                <a:latin typeface="Inter SemiBold"/>
                <a:cs typeface="Inter SemiBold"/>
              </a:rPr>
              <a:t>“Fuqaro tasviridan foydalanishni huquqiy tartibga solish”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0515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033271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lang="uz-Latn-UZ" spc="180">
                <a:solidFill>
                  <a:srgbClr val="FFFFFF"/>
                </a:solidFill>
                <a:latin typeface="Space Grotesk Medium"/>
                <a:cs typeface="Space Grotesk Medium"/>
              </a:rPr>
              <a:t>ORIGINAL ILMIY HISSA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72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FK 19, 99-modda + yangi 178-modda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87168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" y="2487168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76148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0814" y="2844003"/>
            <a:ext cx="282659" cy="383609"/>
          </a:xfrm>
          <a:prstGeom prst="roundRect">
            <a:avLst>
              <a:gd name="adj" fmla="val 10714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66336" y="2955048"/>
            <a:ext cx="17161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6336" y="3035808"/>
            <a:ext cx="17161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6336" y="3116567"/>
            <a:ext cx="11104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9440" y="27432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401568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Tasvirning huquqiy ta’rifi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785616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Identifikatsiyalovchi vizual axborot sifatida.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4736" y="2487168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4736" y="2487168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57344" y="276148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9859" y="2844003"/>
            <a:ext cx="383609" cy="383609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845856" y="3040855"/>
            <a:ext cx="70665" cy="70665"/>
          </a:xfrm>
          <a:prstGeom prst="line">
            <a:avLst/>
          </a:prstGeom>
          <a:ln w="27939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16521" y="2965143"/>
            <a:ext cx="116092" cy="146377"/>
          </a:xfrm>
          <a:prstGeom prst="line">
            <a:avLst/>
          </a:prstGeom>
          <a:ln w="27939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18960" y="27432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5632" y="3401568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Rozilik shakllari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5632" y="3785616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Yozma · og‘zaki · elektron rozilik.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4256" y="2487168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44256" y="2487168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36864" y="276148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529474" y="2854098"/>
            <a:ext cx="13123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29474" y="2854098"/>
            <a:ext cx="0" cy="131235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761658" y="2854098"/>
            <a:ext cx="13123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892893" y="2854098"/>
            <a:ext cx="0" cy="131235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29474" y="3217517"/>
            <a:ext cx="13123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529474" y="3086282"/>
            <a:ext cx="0" cy="131235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761658" y="3217517"/>
            <a:ext cx="13123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892893" y="3086282"/>
            <a:ext cx="0" cy="131235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675851" y="3000475"/>
            <a:ext cx="70664" cy="70664"/>
          </a:xfrm>
          <a:prstGeom prst="ellipse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27432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5152" y="3401568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Roziliksiz foydalanish istisnolari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5152" y="3785616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Davlat, jamoat va umumiy plan hollari.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5216" y="4370832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5216" y="4370832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7824" y="46451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0909" y="4818522"/>
            <a:ext cx="262469" cy="262469"/>
          </a:xfrm>
          <a:prstGeom prst="roundRect">
            <a:avLst>
              <a:gd name="adj" fmla="val 9615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81479" y="4747857"/>
            <a:ext cx="141329" cy="141329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39440" y="46268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285232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Tijorat maqsadida foydalanish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5669280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Faqat yozma rozilik asosida.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64736" y="4370832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64736" y="4370832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57344" y="46451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739859" y="4818522"/>
            <a:ext cx="383609" cy="201899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76141" y="4863949"/>
            <a:ext cx="111044" cy="111044"/>
          </a:xfrm>
          <a:prstGeom prst="ellipse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18960" y="46268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75632" y="5285232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Videokuzatuv qoidalari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75632" y="5669280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Ogohlantirish belgisi · daxlsiz zonalar.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44256" y="4370832"/>
            <a:ext cx="3468624" cy="1627632"/>
          </a:xfrm>
          <a:prstGeom prst="roundRect">
            <a:avLst>
              <a:gd name="adj" fmla="val 8426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44256" y="4370832"/>
            <a:ext cx="128016" cy="1627632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436864" y="46451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79949" y="4909377"/>
            <a:ext cx="262469" cy="211994"/>
          </a:xfrm>
          <a:prstGeom prst="roundRect">
            <a:avLst>
              <a:gd name="adj" fmla="val 11904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30424" y="4757952"/>
            <a:ext cx="161519" cy="181709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579949" y="4909377"/>
            <a:ext cx="262469" cy="151424"/>
          </a:xfrm>
          <a:prstGeom prst="roundRect">
            <a:avLst>
              <a:gd name="adj" fmla="val 16666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98480" y="46268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 lang="uz-Latn-UZ">
                <a:solidFill>
                  <a:srgbClr val="BCD3FF"/>
                </a:solidFill>
                <a:latin typeface="Space Grotesk"/>
                <a:cs typeface="Space Grotesk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5152" y="5285232"/>
            <a:ext cx="29199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 lang="uz-Latn-UZ">
                <a:solidFill>
                  <a:srgbClr val="0F172A"/>
                </a:solidFill>
                <a:latin typeface="Montserrat"/>
                <a:cs typeface="Montserrat"/>
              </a:rPr>
              <a:t>Maxsus himoya vositalari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5152" y="5669280"/>
            <a:ext cx="2965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lang="uz-Latn-UZ">
                <a:solidFill>
                  <a:srgbClr val="5B7099"/>
                </a:solidFill>
                <a:latin typeface="Inter"/>
                <a:cs typeface="Inter"/>
              </a:rPr>
              <a:t>Olib tashlash · shoshilinch chora · zarar.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E1E7F3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0F172A"/>
                </a:solidFill>
                <a:latin typeface="Space Grotesk"/>
                <a:cs typeface="Space Grotesk"/>
              </a:rPr>
              <a:t>07</a:t>
            </a:r>
            <a:r>
              <a:rPr sz="1100" b="0" i="0" lang="uz-Latn-UZ">
                <a:solidFill>
                  <a:srgbClr val="5B7099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366FF"/>
                </a:solidFill>
                <a:latin typeface="Space Grotesk Medium"/>
                <a:cs typeface="Space Grotesk Medium"/>
              </a:rPr>
              <a:t>ROZILIK 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Rozilik — asosiy qoida, istisnolar — aniq belgilangan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828800"/>
            <a:ext cx="5257800" cy="1965960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2103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84831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 lang="uz-Latn-UZ" spc="150">
                <a:solidFill>
                  <a:srgbClr val="16A34A"/>
                </a:solidFill>
                <a:latin typeface="Space Grotesk Medium"/>
                <a:cs typeface="Space Grotesk Medium"/>
              </a:rPr>
              <a:t>UMUMIY QOIDA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15184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Fuqaro tasviridan foydalanish uchun </a:t>
            </a:r>
            <a:r>
              <a:rPr sz="1450" b="0" i="0" lang="uz-Latn-UZ">
                <a:solidFill>
                  <a:srgbClr val="16A34A"/>
                </a:solidFill>
                <a:latin typeface="Montserrat ExtraBold"/>
                <a:cs typeface="Montserrat ExtraBold"/>
              </a:rPr>
              <a:t>rozilik talab qilinadi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3291840"/>
            <a:ext cx="1466088" cy="384048"/>
          </a:xfrm>
          <a:prstGeom prst="roundRect">
            <a:avLst>
              <a:gd name="adj" fmla="val 23809"/>
            </a:avLst>
          </a:prstGeom>
          <a:solidFill>
            <a:srgbClr val="F1F4FA"/>
          </a:solidFill>
          <a:ln w="12700">
            <a:solidFill>
              <a:srgbClr val="E1E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291840"/>
            <a:ext cx="1466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Yozma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1072" y="3291840"/>
            <a:ext cx="1466088" cy="384048"/>
          </a:xfrm>
          <a:prstGeom prst="roundRect">
            <a:avLst>
              <a:gd name="adj" fmla="val 23809"/>
            </a:avLst>
          </a:prstGeom>
          <a:solidFill>
            <a:srgbClr val="F1F4FA"/>
          </a:solidFill>
          <a:ln w="12700">
            <a:solidFill>
              <a:srgbClr val="E1E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1072" y="3291840"/>
            <a:ext cx="1466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Og‘zaki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4320" y="3291840"/>
            <a:ext cx="1466088" cy="384048"/>
          </a:xfrm>
          <a:prstGeom prst="roundRect">
            <a:avLst>
              <a:gd name="adj" fmla="val 23809"/>
            </a:avLst>
          </a:prstGeom>
          <a:solidFill>
            <a:srgbClr val="F1F4FA"/>
          </a:solidFill>
          <a:ln w="12700">
            <a:solidFill>
              <a:srgbClr val="E1E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4320" y="3291840"/>
            <a:ext cx="1466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Elektron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828800"/>
            <a:ext cx="5559552" cy="1965960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2103120"/>
            <a:ext cx="2880360" cy="365760"/>
          </a:xfrm>
          <a:prstGeom prst="roundRect">
            <a:avLst>
              <a:gd name="adj" fmla="val 50000"/>
            </a:avLst>
          </a:prstGeom>
          <a:solidFill>
            <a:srgbClr val="EC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084831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3366FF"/>
                </a:solidFill>
                <a:latin typeface="Space Grotesk Medium"/>
                <a:cs typeface="Space Grotesk Medium"/>
              </a:rPr>
              <a:t>ROZILIKSIZ — ISTISNO HOLATLAR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651760"/>
            <a:ext cx="2377440" cy="420624"/>
          </a:xfrm>
          <a:prstGeom prst="roundRect">
            <a:avLst>
              <a:gd name="adj" fmla="val 21739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0528" y="2788920"/>
            <a:ext cx="146304" cy="146304"/>
          </a:xfrm>
          <a:prstGeom prst="ellipse">
            <a:avLst/>
          </a:prstGeom>
          <a:noFill/>
          <a:ln w="2032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186537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Davlat va jamoat manfaatlari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651760"/>
            <a:ext cx="2377440" cy="420624"/>
          </a:xfrm>
          <a:prstGeom prst="roundRect">
            <a:avLst>
              <a:gd name="adj" fmla="val 21739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07424" y="2788920"/>
            <a:ext cx="146304" cy="146304"/>
          </a:xfrm>
          <a:prstGeom prst="ellipse">
            <a:avLst/>
          </a:prstGeom>
          <a:noFill/>
          <a:ln w="2032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6" y="2651760"/>
            <a:ext cx="186537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Xavfsizlik va qidiruv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3163824"/>
            <a:ext cx="2377440" cy="420624"/>
          </a:xfrm>
          <a:prstGeom prst="roundRect">
            <a:avLst>
              <a:gd name="adj" fmla="val 21739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3300984"/>
            <a:ext cx="146304" cy="146304"/>
          </a:xfrm>
          <a:prstGeom prst="ellipse">
            <a:avLst/>
          </a:prstGeom>
          <a:noFill/>
          <a:ln w="2032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163824"/>
            <a:ext cx="186537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Ommaviy kasbiy faoliyat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42832" y="3163824"/>
            <a:ext cx="2377440" cy="420624"/>
          </a:xfrm>
          <a:prstGeom prst="roundRect">
            <a:avLst>
              <a:gd name="adj" fmla="val 21739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3300984"/>
            <a:ext cx="146304" cy="146304"/>
          </a:xfrm>
          <a:prstGeom prst="ellipse">
            <a:avLst/>
          </a:prstGeom>
          <a:noFill/>
          <a:ln w="2032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3456" y="3163824"/>
            <a:ext cx="186537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243353"/>
                </a:solidFill>
                <a:latin typeface="Inter Medium"/>
                <a:cs typeface="Inter Medium"/>
              </a:rPr>
              <a:t>Umumiy plan (asosiy obyekt emas)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" y="4041648"/>
            <a:ext cx="11027664" cy="786384"/>
          </a:xfrm>
          <a:prstGeom prst="roundRect">
            <a:avLst>
              <a:gd name="adj" fmla="val 16279"/>
            </a:avLst>
          </a:prstGeom>
          <a:solidFill>
            <a:srgbClr val="0F172A"/>
          </a:solidFill>
          <a:ln>
            <a:noFill/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187952"/>
            <a:ext cx="493776" cy="493776"/>
          </a:xfrm>
          <a:prstGeom prst="roundRect">
            <a:avLst>
              <a:gd name="adj" fmla="val 28000"/>
            </a:avLst>
          </a:prstGeom>
          <a:solidFill>
            <a:srgbClr val="1B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3176" y="4343985"/>
            <a:ext cx="236222" cy="236222"/>
          </a:xfrm>
          <a:prstGeom prst="roundRect">
            <a:avLst>
              <a:gd name="adj" fmla="val 9615"/>
            </a:avLst>
          </a:prstGeom>
          <a:noFill/>
          <a:ln w="24130">
            <a:solidFill>
              <a:srgbClr val="D98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689" y="4280386"/>
            <a:ext cx="127196" cy="127196"/>
          </a:xfrm>
          <a:prstGeom prst="ellipse">
            <a:avLst/>
          </a:prstGeom>
          <a:noFill/>
          <a:ln w="24130">
            <a:solidFill>
              <a:srgbClr val="D98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4041648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 lang="uz-Latn-UZ" spc="50">
                <a:solidFill>
                  <a:srgbClr val="FFFFFF"/>
                </a:solidFill>
                <a:latin typeface="Montserrat ExtraBold"/>
                <a:cs typeface="Montserrat ExtraBold"/>
              </a:rPr>
              <a:t>TIJORAT MAQSADIDA FOYDALANISH</a:t>
            </a:r>
            <a:r>
              <a:rPr sz="1500" b="0" i="0" lang="uz-Latn-UZ">
                <a:solidFill>
                  <a:srgbClr val="D9880B"/>
                </a:solidFill>
                <a:latin typeface="Montserrat ExtraBold"/>
                <a:cs typeface="Montserrat ExtraBold"/>
              </a:rPr>
              <a:t>   →   </a:t>
            </a:r>
            <a:r>
              <a:rPr sz="1500" b="0" i="0" lang="uz-Latn-UZ" spc="50">
                <a:solidFill>
                  <a:srgbClr val="34D399"/>
                </a:solidFill>
                <a:latin typeface="Montserrat ExtraBold"/>
                <a:cs typeface="Montserrat ExtraBold"/>
              </a:rPr>
              <a:t>YOZMA ROZILIK SHART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" y="5029200"/>
            <a:ext cx="11027664" cy="89611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3366FF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029200"/>
            <a:ext cx="1060704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Suratga tushishga rozilik</a:t>
            </a:r>
            <a:r>
              <a:rPr sz="2000" b="0" i="0" lang="uz-Latn-UZ">
                <a:solidFill>
                  <a:srgbClr val="E5484D"/>
                </a:solidFill>
                <a:latin typeface="Montserrat Black"/>
                <a:cs typeface="Montserrat Black"/>
              </a:rPr>
              <a:t>   ≠   </a:t>
            </a:r>
            <a:r>
              <a:rPr sz="1800" b="0" i="0" lang="uz-Latn-UZ">
                <a:solidFill>
                  <a:srgbClr val="3366FF"/>
                </a:solidFill>
                <a:latin typeface="Montserrat ExtraBold"/>
                <a:cs typeface="Montserrat ExtraBold"/>
              </a:rPr>
              <a:t>cheklanmagan tarqatishga rozilik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E1E7F3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0F172A"/>
                </a:solidFill>
                <a:latin typeface="Space Grotesk"/>
                <a:cs typeface="Space Grotesk"/>
              </a:rPr>
              <a:t>08</a:t>
            </a:r>
            <a:r>
              <a:rPr sz="1100" b="0" i="0" lang="uz-Latn-UZ">
                <a:solidFill>
                  <a:srgbClr val="5B7099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7C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7CC7FF"/>
                </a:solidFill>
                <a:latin typeface="Space Grotesk Medium"/>
                <a:cs typeface="Space Grotesk Medium"/>
              </a:rPr>
              <a:t>TEZKOR RAQAMLI HIMOYA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Raqamli muhitda </a:t>
            </a:r>
            <a:r>
              <a:rPr sz="2500" b="0" i="0" lang="uz-Latn-UZ">
                <a:solidFill>
                  <a:srgbClr val="FF6B81"/>
                </a:solidFill>
                <a:latin typeface="Montserrat ExtraBold"/>
                <a:cs typeface="Montserrat ExtraBold"/>
              </a:rPr>
              <a:t>kechikkan himoya</a:t>
            </a:r>
            <a:r>
              <a:rPr sz="2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 — samarasiz himoya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7830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Kontent soniyalarda tarqaladi — oddiy, sekin protsedura yetarli emas. Zanjir bir butun bo‘lishi kerak: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514600"/>
            <a:ext cx="1971446" cy="1417320"/>
          </a:xfrm>
          <a:prstGeom prst="roundRect">
            <a:avLst>
              <a:gd name="adj" fmla="val 9032"/>
            </a:avLst>
          </a:prstGeom>
          <a:solidFill>
            <a:srgbClr val="162240">
              <a:alpha val="95000"/>
            </a:srgbClr>
          </a:solidFill>
          <a:ln w="12700">
            <a:solidFill>
              <a:srgbClr val="2B3A6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7475" y="2734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70939" y="2840184"/>
            <a:ext cx="187766" cy="333808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383172" y="3173992"/>
            <a:ext cx="375533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83172" y="2840184"/>
            <a:ext cx="187767" cy="333808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0939" y="2965362"/>
            <a:ext cx="0" cy="104315"/>
          </a:xfrm>
          <a:prstGeom prst="line">
            <a:avLst/>
          </a:prstGeom>
          <a:ln w="2920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60507" y="3100971"/>
            <a:ext cx="26078" cy="26078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392424"/>
            <a:ext cx="17519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HUQUQBUZARLIK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2557" y="3122676"/>
            <a:ext cx="140818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632557" y="3223260"/>
            <a:ext cx="140818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660904"/>
            <a:ext cx="17519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7488B4"/>
                </a:solidFill>
                <a:latin typeface="Space Grotesk"/>
                <a:cs typeface="Space Grotesk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9270" y="2514600"/>
            <a:ext cx="1971446" cy="1417320"/>
          </a:xfrm>
          <a:prstGeom prst="roundRect">
            <a:avLst>
              <a:gd name="adj" fmla="val 9032"/>
            </a:avLst>
          </a:prstGeom>
          <a:solidFill>
            <a:srgbClr val="1B294B">
              <a:alpha val="95000"/>
            </a:srgbClr>
          </a:solidFill>
          <a:ln w="12700">
            <a:solidFill>
              <a:srgbClr val="7CC7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51529" y="2734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88952" y="2819321"/>
            <a:ext cx="292081" cy="396396"/>
          </a:xfrm>
          <a:prstGeom prst="roundRect">
            <a:avLst>
              <a:gd name="adj" fmla="val 10714"/>
            </a:avLst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746326" y="2934068"/>
            <a:ext cx="17733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46326" y="3017520"/>
            <a:ext cx="17733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46326" y="3100971"/>
            <a:ext cx="114746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58998" y="3392424"/>
            <a:ext cx="17519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ELEKTRON DALILNI SAQLASH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96612" y="3122676"/>
            <a:ext cx="140817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896612" y="3223260"/>
            <a:ext cx="140817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58998" y="2660904"/>
            <a:ext cx="17519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7488B4"/>
                </a:solidFill>
                <a:latin typeface="Space Grotesk"/>
                <a:cs typeface="Space Grotesk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3324" y="2514600"/>
            <a:ext cx="1971446" cy="1417320"/>
          </a:xfrm>
          <a:prstGeom prst="roundRect">
            <a:avLst>
              <a:gd name="adj" fmla="val 9032"/>
            </a:avLst>
          </a:prstGeom>
          <a:solidFill>
            <a:srgbClr val="1B294B">
              <a:alpha val="95000"/>
            </a:srgbClr>
          </a:solidFill>
          <a:ln w="12700">
            <a:solidFill>
              <a:srgbClr val="7CC7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15584" y="2734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53007" y="2829753"/>
            <a:ext cx="260786" cy="375533"/>
          </a:xfrm>
          <a:prstGeom prst="roundRect">
            <a:avLst>
              <a:gd name="adj" fmla="val 10000"/>
            </a:avLst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999948" y="3048814"/>
            <a:ext cx="46942" cy="52157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46890" y="2965362"/>
            <a:ext cx="93883" cy="135609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23052" y="3392424"/>
            <a:ext cx="17519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SHOSHILINCH SUD CHORASI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60666" y="3122676"/>
            <a:ext cx="140817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160666" y="3223260"/>
            <a:ext cx="140817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23052" y="2660904"/>
            <a:ext cx="17519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7488B4"/>
                </a:solidFill>
                <a:latin typeface="Space Grotesk"/>
                <a:cs typeface="Space Grotesk"/>
              </a:rPr>
              <a:t>03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7379" y="2514600"/>
            <a:ext cx="1971446" cy="1417320"/>
          </a:xfrm>
          <a:prstGeom prst="roundRect">
            <a:avLst>
              <a:gd name="adj" fmla="val 9032"/>
            </a:avLst>
          </a:prstGeom>
          <a:solidFill>
            <a:srgbClr val="162240">
              <a:alpha val="95000"/>
            </a:srgbClr>
          </a:solidFill>
          <a:ln w="12700">
            <a:solidFill>
              <a:srgbClr val="2B3A6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79638" y="2734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175335" y="2829753"/>
            <a:ext cx="135610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75335" y="2829753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415259" y="2829753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50868" y="2829753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175335" y="3205286"/>
            <a:ext cx="135610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75335" y="3069677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415259" y="3205286"/>
            <a:ext cx="135609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550868" y="3069677"/>
            <a:ext cx="0" cy="135609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326592" y="2981009"/>
            <a:ext cx="73020" cy="73020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7107" y="3392424"/>
            <a:ext cx="17519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TARQALISHNI TO‘XTATISH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24720" y="3122676"/>
            <a:ext cx="140818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424720" y="3223260"/>
            <a:ext cx="140818" cy="100584"/>
          </a:xfrm>
          <a:prstGeom prst="line">
            <a:avLst/>
          </a:prstGeom>
          <a:ln w="27940">
            <a:solidFill>
              <a:srgbClr val="7CC7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87107" y="2660904"/>
            <a:ext cx="17519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7488B4"/>
                </a:solidFill>
                <a:latin typeface="Space Grotesk"/>
                <a:cs typeface="Space Grotesk"/>
              </a:rPr>
              <a:t>04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1433" y="2514600"/>
            <a:ext cx="1971446" cy="1417320"/>
          </a:xfrm>
          <a:prstGeom prst="roundRect">
            <a:avLst>
              <a:gd name="adj" fmla="val 9032"/>
            </a:avLst>
          </a:prstGeom>
          <a:solidFill>
            <a:srgbClr val="162240">
              <a:alpha val="95000"/>
            </a:srgbClr>
          </a:solidFill>
          <a:ln w="12700">
            <a:solidFill>
              <a:srgbClr val="2B3A6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343692" y="2734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28958" y="2819321"/>
            <a:ext cx="396396" cy="396396"/>
          </a:xfrm>
          <a:prstGeom prst="ellipse">
            <a:avLst/>
          </a:prstGeom>
          <a:noFill/>
          <a:ln w="24130">
            <a:solidFill>
              <a:srgbClr val="59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538489" y="3022735"/>
            <a:ext cx="73020" cy="73021"/>
          </a:xfrm>
          <a:prstGeom prst="line">
            <a:avLst/>
          </a:prstGeom>
          <a:ln w="2793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611509" y="2944499"/>
            <a:ext cx="119962" cy="151257"/>
          </a:xfrm>
          <a:prstGeom prst="line">
            <a:avLst/>
          </a:prstGeom>
          <a:ln w="27939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51161" y="3392424"/>
            <a:ext cx="175199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ZARARNI QOPLASH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1161" y="2660904"/>
            <a:ext cx="17519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lang="uz-Latn-UZ" spc="100">
                <a:solidFill>
                  <a:srgbClr val="7488B4"/>
                </a:solidFill>
                <a:latin typeface="Space Grotesk"/>
                <a:cs typeface="Space Grotesk"/>
              </a:rPr>
              <a:t>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5216" y="4251960"/>
            <a:ext cx="6766560" cy="1554480"/>
          </a:xfrm>
          <a:prstGeom prst="roundRect">
            <a:avLst>
              <a:gd name="adj" fmla="val 9411"/>
            </a:avLst>
          </a:prstGeom>
          <a:solidFill>
            <a:srgbClr val="162240">
              <a:alpha val="92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6112" y="45262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" y="450799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 lang="uz-Latn-UZ" spc="120">
                <a:solidFill>
                  <a:srgbClr val="7CC7FF"/>
                </a:solidFill>
                <a:latin typeface="Space Grotesk Medium"/>
                <a:cs typeface="Space Grotesk Medium"/>
              </a:rPr>
              <a:t>FRANSIYA · RÉFÉRÉ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" y="50292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Sud </a:t>
            </a:r>
            <a:r>
              <a:rPr sz="1350" b="0" i="0" lang="uz-Latn-UZ">
                <a:solidFill>
                  <a:srgbClr val="7CC7FF"/>
                </a:solidFill>
                <a:latin typeface="Montserrat ExtraBold"/>
                <a:cs typeface="Montserrat ExtraBold"/>
              </a:rPr>
              <a:t>bir necha soat ichida</a:t>
            </a:r>
            <a:r>
              <a:rPr sz="125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 tasvirni olib tashlash choralarini qo‘llaydi. FPKga shunga o‘xshash shoshilinch tartib joriy etish taklif etiladi.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34656" y="4251960"/>
            <a:ext cx="4078224" cy="1554480"/>
          </a:xfrm>
          <a:prstGeom prst="roundRect">
            <a:avLst>
              <a:gd name="adj" fmla="val 9411"/>
            </a:avLst>
          </a:prstGeom>
          <a:solidFill>
            <a:srgbClr val="162240">
              <a:alpha val="92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438912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lang="uz-Latn-UZ" spc="180">
                <a:solidFill>
                  <a:srgbClr val="7488B4"/>
                </a:solidFill>
                <a:latin typeface="Space Grotesk Medium"/>
                <a:cs typeface="Space Grotesk Medium"/>
              </a:rPr>
              <a:t>VIRALLIK — TARQALISH</a:t>
            </a:r>
          </a:p>
        </p:txBody>
      </p:sp>
      <p:sp>
        <p:nvSpPr>
          <p:cNvPr id="65" name="Oval 64"/>
          <p:cNvSpPr/>
          <p:nvPr/>
        </p:nvSpPr>
        <p:spPr>
          <a:xfrm>
            <a:off x="7882127" y="5138928"/>
            <a:ext cx="237744" cy="237744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8001000" y="4754880"/>
            <a:ext cx="800100" cy="502920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755380" y="4709160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8001000" y="4855464"/>
            <a:ext cx="1280160" cy="402336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9235440" y="4809744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8001000" y="4956048"/>
            <a:ext cx="1760220" cy="301752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715500" y="4910328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8001000" y="5056632"/>
            <a:ext cx="800100" cy="201168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755380" y="5010912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8001000" y="5157216"/>
            <a:ext cx="1280160" cy="100584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235440" y="5111496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8001000" y="5257800"/>
            <a:ext cx="1760220" cy="0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715500" y="5212080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8001000" y="5257800"/>
            <a:ext cx="800100" cy="100584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8755380" y="5312664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8001000" y="5257800"/>
            <a:ext cx="1280160" cy="201168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9235440" y="5413248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8001000" y="5257800"/>
            <a:ext cx="1760220" cy="301752"/>
          </a:xfrm>
          <a:prstGeom prst="line">
            <a:avLst/>
          </a:prstGeom>
          <a:ln w="12700">
            <a:solidFill>
              <a:srgbClr val="598DFF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715500" y="5513832"/>
            <a:ext cx="91440" cy="91440"/>
          </a:xfrm>
          <a:prstGeom prst="ellipse">
            <a:avLst/>
          </a:prstGeom>
          <a:solidFill>
            <a:srgbClr val="598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09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4D399"/>
                </a:solidFill>
                <a:latin typeface="Space Grotesk Medium"/>
                <a:cs typeface="Space Grotesk Medium"/>
              </a:rPr>
              <a:t>TADQIQOTDAN AMALIY YECHIMGA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097280"/>
            <a:ext cx="1642262" cy="512064"/>
          </a:xfrm>
          <a:prstGeom prst="roundRect">
            <a:avLst>
              <a:gd name="adj" fmla="val 21428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097280"/>
            <a:ext cx="16422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 lang="uz-Latn-UZ" spc="50">
                <a:solidFill>
                  <a:srgbClr val="598DFF"/>
                </a:solidFill>
                <a:latin typeface="Inter SemiBold"/>
                <a:cs typeface="Inter SemiBold"/>
              </a:rPr>
              <a:t>ILMIY MUAMMO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96972" y="1243584"/>
            <a:ext cx="153620" cy="109728"/>
          </a:xfrm>
          <a:prstGeom prst="line">
            <a:avLst/>
          </a:prstGeom>
          <a:ln w="27940">
            <a:solidFill>
              <a:srgbClr val="9DB0D8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296972" y="1353312"/>
            <a:ext cx="153620" cy="109728"/>
          </a:xfrm>
          <a:prstGeom prst="line">
            <a:avLst/>
          </a:prstGeom>
          <a:ln w="27940">
            <a:solidFill>
              <a:srgbClr val="9DB0D8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9814" y="1097280"/>
            <a:ext cx="1839772" cy="512064"/>
          </a:xfrm>
          <a:prstGeom prst="roundRect">
            <a:avLst>
              <a:gd name="adj" fmla="val 21428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9814" y="1097280"/>
            <a:ext cx="18397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 lang="uz-Latn-UZ" spc="50">
                <a:solidFill>
                  <a:srgbClr val="7CC7FF"/>
                </a:solidFill>
                <a:latin typeface="Inter SemiBold"/>
                <a:cs typeface="Inter SemiBold"/>
              </a:rPr>
              <a:t>HUQUQIY TAKLIF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39081" y="1243584"/>
            <a:ext cx="153619" cy="109728"/>
          </a:xfrm>
          <a:prstGeom prst="line">
            <a:avLst/>
          </a:prstGeom>
          <a:ln w="27940">
            <a:solidFill>
              <a:srgbClr val="9DB0D8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539081" y="1353312"/>
            <a:ext cx="153619" cy="109728"/>
          </a:xfrm>
          <a:prstGeom prst="line">
            <a:avLst/>
          </a:prstGeom>
          <a:ln w="27940">
            <a:solidFill>
              <a:srgbClr val="9DB0D8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71923" y="1097280"/>
            <a:ext cx="2136038" cy="512064"/>
          </a:xfrm>
          <a:prstGeom prst="roundRect">
            <a:avLst>
              <a:gd name="adj" fmla="val 21428"/>
            </a:avLst>
          </a:prstGeom>
          <a:solidFill>
            <a:srgbClr val="162240">
              <a:alpha val="9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1923" y="1097280"/>
            <a:ext cx="213603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0" lang="uz-Latn-UZ" spc="50">
                <a:solidFill>
                  <a:srgbClr val="34D399"/>
                </a:solidFill>
                <a:latin typeface="Inter SemiBold"/>
                <a:cs typeface="Inter SemiBold"/>
              </a:rPr>
              <a:t>TEXNOLOGIK YECHIM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7040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0" i="0" lang="uz-Latn-UZ">
                <a:solidFill>
                  <a:srgbClr val="FFFFFF"/>
                </a:solidFill>
                <a:latin typeface="Montserrat Black"/>
                <a:cs typeface="Montserrat Black"/>
              </a:rPr>
              <a:t>ImageRights</a:t>
            </a:r>
            <a:r>
              <a:rPr sz="5200" b="0" i="0" lang="uz-Latn-UZ">
                <a:solidFill>
                  <a:srgbClr val="598DFF"/>
                </a:solidFill>
                <a:latin typeface="Montserrat Black"/>
                <a:cs typeface="Montserrat Black"/>
              </a:rPr>
              <a:t>.uz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2004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 lang="uz-Latn-UZ">
                <a:solidFill>
                  <a:srgbClr val="BCD3FF"/>
                </a:solidFill>
                <a:latin typeface="Inter Medium"/>
                <a:cs typeface="Inter Medium"/>
              </a:rPr>
              <a:t>Tasvir huquqlarini himoya qilishga qaratilgan </a:t>
            </a:r>
            <a:r>
              <a:rPr sz="150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LegalTech platforma prototipi</a:t>
            </a:r>
            <a:r>
              <a:rPr sz="1500" b="0" i="0" lang="uz-Latn-UZ">
                <a:solidFill>
                  <a:srgbClr val="BCD3FF"/>
                </a:solidFill>
                <a:latin typeface="Inter Medium"/>
                <a:cs typeface="Inter Medium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4251960"/>
            <a:ext cx="6675120" cy="914400"/>
          </a:xfrm>
          <a:prstGeom prst="roundRect">
            <a:avLst>
              <a:gd name="adj" fmla="val 16000"/>
            </a:avLst>
          </a:prstGeom>
          <a:solidFill>
            <a:srgbClr val="162240">
              <a:alpha val="80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217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 lang="uz-Latn-UZ">
                <a:solidFill>
                  <a:srgbClr val="9DB0D8"/>
                </a:solidFill>
                <a:latin typeface="Inter SemiBold"/>
                <a:cs typeface="Inter SemiBold"/>
              </a:rPr>
              <a:t>Tadqiqot </a:t>
            </a:r>
            <a:r>
              <a:rPr sz="1500" b="0" i="0" lang="uz-Latn-UZ">
                <a:solidFill>
                  <a:srgbClr val="34D399"/>
                </a:solidFill>
                <a:latin typeface="Montserrat ExtraBold"/>
                <a:cs typeface="Montserrat ExtraBold"/>
              </a:rPr>
              <a:t>tavsiyalar bilan tugamadi</a:t>
            </a:r>
            <a:r>
              <a:rPr sz="1500" b="0" i="0" lang="uz-Latn-UZ">
                <a:solidFill>
                  <a:srgbClr val="9DB0D8"/>
                </a:solidFill>
                <a:latin typeface="Inter SemiBold"/>
                <a:cs typeface="Inter SemiBold"/>
              </a:rPr>
              <a:t> — u ishlaydigan prototipga aylandi.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" y="54864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46811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 lang="uz-Latn-UZ" spc="100">
                <a:solidFill>
                  <a:srgbClr val="598DFF"/>
                </a:solidFill>
                <a:latin typeface="Space Grotesk Medium"/>
                <a:cs typeface="Space Grotesk Medium"/>
              </a:rPr>
              <a:t>Ilmiy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6816" y="54864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6" y="546811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 lang="uz-Latn-UZ" spc="100">
                <a:solidFill>
                  <a:srgbClr val="7CC7FF"/>
                </a:solidFill>
                <a:latin typeface="Space Grotesk Medium"/>
                <a:cs typeface="Space Grotesk Medium"/>
              </a:rPr>
              <a:t>Normativ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8416" y="54864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5468112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 lang="uz-Latn-UZ" spc="100">
                <a:solidFill>
                  <a:srgbClr val="34D399"/>
                </a:solidFill>
                <a:latin typeface="Space Grotesk Medium"/>
                <a:cs typeface="Space Grotesk Medium"/>
              </a:rPr>
              <a:t>Amaliy</a:t>
            </a:r>
          </a:p>
        </p:txBody>
      </p:sp>
      <p:pic>
        <p:nvPicPr>
          <p:cNvPr id="25" name="Picture 24" descr="mock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5074920" cy="3475144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10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3035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366FF"/>
                </a:solidFill>
                <a:latin typeface="Space Grotesk Medium"/>
                <a:cs typeface="Space Grotesk Medium"/>
              </a:rPr>
              <a:t>PLATFORMA QANDAY ISHLAYDI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Tadqiqot takliflari </a:t>
            </a:r>
            <a:r>
              <a:rPr sz="2200" b="0" i="0" lang="uz-Latn-UZ">
                <a:solidFill>
                  <a:srgbClr val="3366FF"/>
                </a:solidFill>
                <a:latin typeface="Montserrat ExtraBold"/>
                <a:cs typeface="Montserrat ExtraBold"/>
              </a:rPr>
              <a:t>platforma modullariga</a:t>
            </a:r>
            <a:r>
              <a:rPr sz="2200" b="0" i="0" lang="uz-Latn-UZ">
                <a:solidFill>
                  <a:srgbClr val="0F172A"/>
                </a:solidFill>
                <a:latin typeface="Montserrat ExtraBold"/>
                <a:cs typeface="Montserrat ExtraBold"/>
              </a:rPr>
              <a:t> bog‘landi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3366FF"/>
                </a:solidFill>
                <a:latin typeface="Space Grotesk"/>
                <a:cs typeface="Space Grotesk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TASVIRNI QAYD ETISH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92705" y="1883664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292705" y="1956816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2784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0F172A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2512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2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ELEKTRON ROZILIK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0273" y="1883664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170273" y="1956816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0351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0F172A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3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MONITORING VA AI TAHLIL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47841" y="1883664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47841" y="1956816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0F172A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4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ELEKTRON DALIL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5409" y="1883664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925409" y="1956816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95488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5215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3366FF"/>
                </a:solidFill>
                <a:latin typeface="Space Grotesk"/>
                <a:cs typeface="Space Grotesk"/>
              </a:rPr>
              <a:t>5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HUQUQIY HIMOYA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02977" y="1883664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802977" y="1956816"/>
            <a:ext cx="102413" cy="73152"/>
          </a:xfrm>
          <a:prstGeom prst="line">
            <a:avLst/>
          </a:prstGeom>
          <a:ln w="27940">
            <a:solidFill>
              <a:srgbClr val="598DFF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73056" y="1627632"/>
            <a:ext cx="1639824" cy="658368"/>
          </a:xfrm>
          <a:prstGeom prst="roundRect">
            <a:avLst>
              <a:gd name="adj" fmla="val 15277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2783" y="1627632"/>
            <a:ext cx="1420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 i="0" lang="uz-Latn-UZ">
                <a:solidFill>
                  <a:srgbClr val="3366FF"/>
                </a:solidFill>
                <a:latin typeface="Space Grotesk"/>
                <a:cs typeface="Space Grotesk"/>
              </a:rPr>
              <a:t>6</a:t>
            </a:r>
          </a:p>
          <a:p>
            <a:pPr algn="ctr">
              <a:lnSpc>
                <a:spcPct val="95000"/>
              </a:lnSpc>
            </a:pPr>
            <a:r>
              <a:rPr sz="860" b="0" i="0" lang="uz-Latn-UZ">
                <a:solidFill>
                  <a:srgbClr val="243353"/>
                </a:solidFill>
                <a:latin typeface="Inter SemiBold"/>
                <a:cs typeface="Inter SemiBold"/>
              </a:rPr>
              <a:t>LITSENZIYALASH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2615184"/>
            <a:ext cx="5623560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2700">
            <a:solidFill>
              <a:srgbClr val="E1E7F3"/>
            </a:solidFill>
          </a:ln>
          <a:effectLst>
            <a:outerShdw blurRad="128016" dist="82296" dir="5400000" rotWithShape="0">
              <a:srgbClr val="0B1220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283463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lang="uz-Latn-UZ" spc="200">
                <a:solidFill>
                  <a:srgbClr val="5B7099"/>
                </a:solidFill>
                <a:latin typeface="Space Grotesk Medium"/>
                <a:cs typeface="Space Grotesk Medium"/>
              </a:rPr>
              <a:t>TAKLIF  →  MODUL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" y="3328415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6586" y="3397178"/>
            <a:ext cx="319674" cy="319674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034917" y="3561222"/>
            <a:ext cx="58888" cy="58887"/>
          </a:xfrm>
          <a:prstGeom prst="line">
            <a:avLst/>
          </a:prstGeom>
          <a:ln w="27939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93805" y="3498128"/>
            <a:ext cx="96743" cy="121981"/>
          </a:xfrm>
          <a:prstGeom prst="line">
            <a:avLst/>
          </a:prstGeom>
          <a:ln w="27939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63040" y="3300984"/>
            <a:ext cx="4434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Elektron rozilik taklifi</a:t>
            </a:r>
          </a:p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3366FF"/>
                </a:solidFill>
                <a:latin typeface="Inter Medium"/>
                <a:cs typeface="Inter Medium"/>
              </a:rPr>
              <a:t>Consent management moduli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" y="3840479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06424" y="3926067"/>
            <a:ext cx="0" cy="286025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3411" y="4069079"/>
            <a:ext cx="286025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13886" y="3976542"/>
            <a:ext cx="185075" cy="185075"/>
          </a:xfrm>
          <a:prstGeom prst="line">
            <a:avLst/>
          </a:prstGeom>
          <a:ln w="1689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013886" y="3976542"/>
            <a:ext cx="185075" cy="185075"/>
          </a:xfrm>
          <a:prstGeom prst="line">
            <a:avLst/>
          </a:prstGeom>
          <a:ln w="1689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63040" y="3813047"/>
            <a:ext cx="4434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Deepfake muammosi</a:t>
            </a:r>
          </a:p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3366FF"/>
                </a:solidFill>
                <a:latin typeface="Inter Medium"/>
                <a:cs typeface="Inter Medium"/>
              </a:rPr>
              <a:t>AI tahlil konsepti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" y="435254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8649" y="4421306"/>
            <a:ext cx="235549" cy="319674"/>
          </a:xfrm>
          <a:prstGeom prst="roundRect">
            <a:avLst>
              <a:gd name="adj" fmla="val 10714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34917" y="4513844"/>
            <a:ext cx="143013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34917" y="4581144"/>
            <a:ext cx="143013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4917" y="4648443"/>
            <a:ext cx="92538" cy="0"/>
          </a:xfrm>
          <a:prstGeom prst="line">
            <a:avLst/>
          </a:prstGeom>
          <a:ln w="24130">
            <a:solidFill>
              <a:srgbClr val="336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63040" y="4325112"/>
            <a:ext cx="4434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Tezkor himoya zarurati</a:t>
            </a:r>
          </a:p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3366FF"/>
                </a:solidFill>
                <a:latin typeface="Inter Medium"/>
                <a:cs typeface="Inter Medium"/>
              </a:rPr>
              <a:t>Dalil + huquqiy hujjat oqimi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" y="4864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7061" y="5009083"/>
            <a:ext cx="218724" cy="218724"/>
          </a:xfrm>
          <a:prstGeom prst="roundRect">
            <a:avLst>
              <a:gd name="adj" fmla="val 9615"/>
            </a:avLst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7536" y="4950195"/>
            <a:ext cx="117774" cy="117774"/>
          </a:xfrm>
          <a:prstGeom prst="ellipse">
            <a:avLst/>
          </a:prstGeom>
          <a:noFill/>
          <a:ln w="2413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63040" y="4837176"/>
            <a:ext cx="4434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Tasvirning iqtisodiy qiymati</a:t>
            </a:r>
          </a:p>
          <a:p>
            <a:pPr algn="l">
              <a:lnSpc>
                <a:spcPct val="100000"/>
              </a:lnSpc>
            </a:pPr>
            <a:r>
              <a:rPr sz="1050" b="0" i="0" lang="uz-Latn-UZ">
                <a:solidFill>
                  <a:srgbClr val="3366FF"/>
                </a:solidFill>
                <a:latin typeface="Inter Medium"/>
                <a:cs typeface="Inter Medium"/>
              </a:rPr>
              <a:t>Litsenziyalash modeli</a:t>
            </a:r>
          </a:p>
        </p:txBody>
      </p:sp>
      <p:pic>
        <p:nvPicPr>
          <p:cNvPr id="51" name="Picture 50" descr="mock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450592"/>
            <a:ext cx="5230368" cy="3581590"/>
          </a:xfrm>
          <a:prstGeom prst="rect">
            <a:avLst/>
          </a:prstGeom>
        </p:spPr>
      </p:pic>
      <p:pic>
        <p:nvPicPr>
          <p:cNvPr id="52" name="Picture 51" descr="mock_deepf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041648"/>
            <a:ext cx="3063240" cy="2097609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85216" y="5504688"/>
            <a:ext cx="5623560" cy="457200"/>
          </a:xfrm>
          <a:prstGeom prst="roundRect">
            <a:avLst>
              <a:gd name="adj" fmla="val 20000"/>
            </a:avLst>
          </a:prstGeom>
          <a:solidFill>
            <a:srgbClr val="FFF7E8"/>
          </a:solidFill>
          <a:ln w="12700">
            <a:solidFill>
              <a:srgbClr val="F0D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" y="5504688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 lang="uz-Latn-UZ">
                <a:solidFill>
                  <a:srgbClr val="8A6312"/>
                </a:solidFill>
                <a:latin typeface="Inter Medium"/>
                <a:cs typeface="Inter Medium"/>
              </a:rPr>
              <a:t>⚠ Prototip sud, advokat yoki davlat organi o‘rnini bosmaydi — himoya jarayonini tezlashtiradi.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E1E7F3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0F172A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5B7099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0F172A"/>
                </a:solidFill>
                <a:latin typeface="Space Grotesk"/>
                <a:cs typeface="Space Grotesk"/>
              </a:rPr>
              <a:t>11</a:t>
            </a:r>
            <a:r>
              <a:rPr sz="1100" b="0" i="0" lang="uz-Latn-UZ">
                <a:solidFill>
                  <a:srgbClr val="5B7099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5216" y="585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1206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 lang="uz-Latn-UZ" spc="320">
                <a:solidFill>
                  <a:srgbClr val="34D399"/>
                </a:solidFill>
                <a:latin typeface="Space Grotesk Medium"/>
                <a:cs typeface="Space Grotesk Medium"/>
              </a:rPr>
              <a:t>UCH NATIJA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875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Bir tadqiqot — </a:t>
            </a:r>
            <a:r>
              <a:rPr sz="2500" b="0" i="0" lang="uz-Latn-UZ">
                <a:solidFill>
                  <a:srgbClr val="598DFF"/>
                </a:solidFill>
                <a:latin typeface="Montserrat ExtraBold"/>
                <a:cs typeface="Montserrat ExtraBold"/>
              </a:rPr>
              <a:t>uch bog‘langan natija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920240"/>
            <a:ext cx="3456432" cy="2468880"/>
          </a:xfrm>
          <a:prstGeom prst="roundRect">
            <a:avLst>
              <a:gd name="adj" fmla="val 6666"/>
            </a:avLst>
          </a:prstGeom>
          <a:solidFill>
            <a:srgbClr val="162240">
              <a:alpha val="94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920240"/>
            <a:ext cx="3456432" cy="118872"/>
          </a:xfrm>
          <a:prstGeom prst="roundRect">
            <a:avLst>
              <a:gd name="adj" fmla="val 46153"/>
            </a:avLst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3113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598DFF"/>
                </a:solidFill>
                <a:latin typeface="Space Grotesk"/>
                <a:cs typeface="Space Grotesk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212848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07744" y="2311632"/>
            <a:ext cx="139984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7744" y="2311632"/>
            <a:ext cx="0" cy="139984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455407" y="2311632"/>
            <a:ext cx="139984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95391" y="2311632"/>
            <a:ext cx="0" cy="139984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7744" y="2699279"/>
            <a:ext cx="139984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07744" y="2559295"/>
            <a:ext cx="0" cy="139984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455407" y="2699279"/>
            <a:ext cx="139984" cy="0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95391" y="2559295"/>
            <a:ext cx="0" cy="139984"/>
          </a:xfrm>
          <a:prstGeom prst="line">
            <a:avLst/>
          </a:prstGeom>
          <a:ln w="24130">
            <a:solidFill>
              <a:srgbClr val="598D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63880" y="2467768"/>
            <a:ext cx="75375" cy="75375"/>
          </a:xfrm>
          <a:prstGeom prst="ellipse">
            <a:avLst/>
          </a:prstGeom>
          <a:solidFill>
            <a:srgbClr val="59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907792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 lang="uz-Latn-UZ" spc="30">
                <a:solidFill>
                  <a:srgbClr val="FFFFFF"/>
                </a:solidFill>
                <a:latin typeface="Montserrat"/>
                <a:cs typeface="Montserrat"/>
              </a:rPr>
              <a:t>ILMIY NATIJA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" y="3401568"/>
            <a:ext cx="2834640" cy="0"/>
          </a:xfrm>
          <a:prstGeom prst="line">
            <a:avLst/>
          </a:prstGeom>
          <a:ln w="12700">
            <a:solidFill>
              <a:srgbClr val="2B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" y="3529584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Tasvirga bo‘lgan huquqning huquqiy tabiati nomoddiy ne’mat sifatida asoslandi.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1920240"/>
            <a:ext cx="3456432" cy="2468880"/>
          </a:xfrm>
          <a:prstGeom prst="roundRect">
            <a:avLst>
              <a:gd name="adj" fmla="val 6666"/>
            </a:avLst>
          </a:prstGeom>
          <a:solidFill>
            <a:srgbClr val="162240">
              <a:alpha val="94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70831" y="1920240"/>
            <a:ext cx="3456432" cy="118872"/>
          </a:xfrm>
          <a:prstGeom prst="roundRect">
            <a:avLst>
              <a:gd name="adj" fmla="val 46153"/>
            </a:avLst>
          </a:prstGeom>
          <a:solidFill>
            <a:srgbClr val="7C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7" y="223113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7CC7FF"/>
                </a:solidFill>
                <a:latin typeface="Space Grotesk"/>
                <a:cs typeface="Space Grotesk"/>
              </a:rPr>
              <a:t>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4575" y="2212848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36432" y="2300864"/>
            <a:ext cx="301503" cy="409183"/>
          </a:xfrm>
          <a:prstGeom prst="roundRect">
            <a:avLst>
              <a:gd name="adj" fmla="val 10714"/>
            </a:avLst>
          </a:prstGeom>
          <a:noFill/>
          <a:ln w="24130">
            <a:solidFill>
              <a:srgbClr val="7C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95656" y="2419312"/>
            <a:ext cx="18305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95656" y="2505456"/>
            <a:ext cx="183055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95656" y="2591599"/>
            <a:ext cx="118447" cy="0"/>
          </a:xfrm>
          <a:prstGeom prst="line">
            <a:avLst/>
          </a:prstGeom>
          <a:ln w="24130">
            <a:solidFill>
              <a:srgbClr val="7CC7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81727" y="2907792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 lang="uz-Latn-UZ" spc="30">
                <a:solidFill>
                  <a:srgbClr val="FFFFFF"/>
                </a:solidFill>
                <a:latin typeface="Montserrat"/>
                <a:cs typeface="Montserrat"/>
              </a:rPr>
              <a:t>NORMATIV NATIJA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81727" y="3401568"/>
            <a:ext cx="2834640" cy="0"/>
          </a:xfrm>
          <a:prstGeom prst="line">
            <a:avLst/>
          </a:prstGeom>
          <a:ln w="12700">
            <a:solidFill>
              <a:srgbClr val="2B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81727" y="3529584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Fuqarolik kodeksi va huquqni qo‘llash amaliyotiga aniq takliflar ishlab chiqildi.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1920240"/>
            <a:ext cx="3456432" cy="2468880"/>
          </a:xfrm>
          <a:prstGeom prst="roundRect">
            <a:avLst>
              <a:gd name="adj" fmla="val 6666"/>
            </a:avLst>
          </a:prstGeom>
          <a:solidFill>
            <a:srgbClr val="162240">
              <a:alpha val="94000"/>
            </a:srgbClr>
          </a:solidFill>
          <a:ln w="12700">
            <a:solidFill>
              <a:srgbClr val="2B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6448" y="1920240"/>
            <a:ext cx="3456432" cy="118872"/>
          </a:xfrm>
          <a:prstGeom prst="roundRect">
            <a:avLst>
              <a:gd name="adj" fmla="val 46153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2231136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lang="uz-Latn-UZ">
                <a:solidFill>
                  <a:srgbClr val="34D399"/>
                </a:solidFill>
                <a:latin typeface="Space Grotesk"/>
                <a:cs typeface="Space Grotesk"/>
              </a:rP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80192" y="2212848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0972800" y="2322400"/>
            <a:ext cx="0" cy="366111"/>
          </a:xfrm>
          <a:prstGeom prst="line">
            <a:avLst/>
          </a:prstGeom>
          <a:ln w="2413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789744" y="2505456"/>
            <a:ext cx="366111" cy="0"/>
          </a:xfrm>
          <a:prstGeom prst="line">
            <a:avLst/>
          </a:prstGeom>
          <a:ln w="2413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854352" y="2387008"/>
            <a:ext cx="236895" cy="236895"/>
          </a:xfrm>
          <a:prstGeom prst="line">
            <a:avLst/>
          </a:prstGeom>
          <a:ln w="1689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854352" y="2387008"/>
            <a:ext cx="236895" cy="236895"/>
          </a:xfrm>
          <a:prstGeom prst="line">
            <a:avLst/>
          </a:prstGeom>
          <a:ln w="16890">
            <a:solidFill>
              <a:srgbClr val="34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67344" y="2907792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 lang="uz-Latn-UZ" spc="30">
                <a:solidFill>
                  <a:srgbClr val="FFFFFF"/>
                </a:solidFill>
                <a:latin typeface="Montserrat"/>
                <a:cs typeface="Montserrat"/>
              </a:rPr>
              <a:t>AMALIY NATIJA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67344" y="3401568"/>
            <a:ext cx="2834640" cy="0"/>
          </a:xfrm>
          <a:prstGeom prst="line">
            <a:avLst/>
          </a:prstGeom>
          <a:ln w="12700">
            <a:solidFill>
              <a:srgbClr val="2B3A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67344" y="3529584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lang="uz-Latn-UZ">
                <a:solidFill>
                  <a:srgbClr val="9DB0D8"/>
                </a:solidFill>
                <a:latin typeface="Inter Medium"/>
                <a:cs typeface="Inter Medium"/>
              </a:rPr>
              <a:t>ImageRights.uz LegalTech platforma prototipi yaratildi.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" y="4681728"/>
            <a:ext cx="11027664" cy="1170432"/>
          </a:xfrm>
          <a:prstGeom prst="roundRect">
            <a:avLst>
              <a:gd name="adj" fmla="val 14062"/>
            </a:avLst>
          </a:prstGeom>
          <a:solidFill>
            <a:srgbClr val="0F172A"/>
          </a:solidFill>
          <a:ln w="1778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681728"/>
            <a:ext cx="1056132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lang="uz-Latn-UZ">
                <a:solidFill>
                  <a:srgbClr val="FFFFFF"/>
                </a:solidFill>
                <a:latin typeface="Montserrat ExtraBold"/>
                <a:cs typeface="Montserrat ExtraBold"/>
              </a:rPr>
              <a:t>ANIQ HUQUQIY NORMA</a:t>
            </a:r>
            <a:r>
              <a:rPr sz="1500" b="0" i="0" lang="uz-Latn-UZ">
                <a:solidFill>
                  <a:srgbClr val="598DFF"/>
                </a:solidFill>
                <a:latin typeface="Montserrat Black"/>
                <a:cs typeface="Montserrat Black"/>
              </a:rPr>
              <a:t>  +  </a:t>
            </a:r>
            <a:r>
              <a:rPr sz="1500" b="0" i="0" lang="uz-Latn-UZ">
                <a:solidFill>
                  <a:srgbClr val="7CC7FF"/>
                </a:solidFill>
                <a:latin typeface="Montserrat ExtraBold"/>
                <a:cs typeface="Montserrat ExtraBold"/>
              </a:rPr>
              <a:t>TEZKOR HIMOYA MEXANIZMI</a:t>
            </a:r>
            <a:r>
              <a:rPr sz="1500" b="0" i="0" lang="uz-Latn-UZ">
                <a:solidFill>
                  <a:srgbClr val="598DFF"/>
                </a:solidFill>
                <a:latin typeface="Montserrat Black"/>
                <a:cs typeface="Montserrat Black"/>
              </a:rPr>
              <a:t>  +  </a:t>
            </a:r>
            <a:r>
              <a:rPr sz="1500" b="0" i="0" lang="uz-Latn-UZ">
                <a:solidFill>
                  <a:srgbClr val="34D399"/>
                </a:solidFill>
                <a:latin typeface="Montserrat ExtraBold"/>
                <a:cs typeface="Montserrat ExtraBold"/>
              </a:rPr>
              <a:t>ZAMONAVIY TEXNOLOGIK YECHIM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55664"/>
            <a:ext cx="11055096" cy="0"/>
          </a:xfrm>
          <a:prstGeom prst="line">
            <a:avLst/>
          </a:prstGeom>
          <a:ln w="9525">
            <a:solidFill>
              <a:srgbClr val="2B3A63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8" y="649224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 lang="uz-Latn-UZ">
                <a:solidFill>
                  <a:srgbClr val="FFFFFF"/>
                </a:solidFill>
                <a:latin typeface="Inter SemiBold"/>
                <a:cs typeface="Inter SemiBold"/>
              </a:rPr>
              <a:t>ImageRights</a:t>
            </a:r>
            <a:r>
              <a:rPr sz="1050" b="0" i="0" lang="uz-Latn-UZ">
                <a:solidFill>
                  <a:srgbClr val="598DFF"/>
                </a:solidFill>
                <a:latin typeface="Inter SemiBold"/>
                <a:cs typeface="Inter SemiBold"/>
              </a:rPr>
              <a:t>.uz</a:t>
            </a:r>
            <a:r>
              <a:rPr sz="1050" b="0" i="0" lang="uz-Latn-UZ">
                <a:solidFill>
                  <a:srgbClr val="7488B4"/>
                </a:solidFill>
                <a:latin typeface="Inter Medium"/>
                <a:cs typeface="Inter Medium"/>
              </a:rPr>
              <a:t>   ·   Jumabekov Samandar  ·  BMI himoyasi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6492240"/>
            <a:ext cx="18379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 lang="uz-Latn-UZ">
                <a:solidFill>
                  <a:srgbClr val="FFFFFF"/>
                </a:solidFill>
                <a:latin typeface="Space Grotesk"/>
                <a:cs typeface="Space Grotesk"/>
              </a:rPr>
              <a:t>12</a:t>
            </a:r>
            <a:r>
              <a:rPr sz="1100" b="0" i="0" lang="uz-Latn-UZ">
                <a:solidFill>
                  <a:srgbClr val="9DB0D8"/>
                </a:solidFill>
                <a:latin typeface="Space Grotesk"/>
                <a:cs typeface="Space Grotesk"/>
              </a:rPr>
              <a:t>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